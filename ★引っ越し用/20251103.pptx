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70" r:id="rId2"/>
    <p:sldMasterId id="2147483672" r:id="rId3"/>
    <p:sldMasterId id="2147483677" r:id="rId4"/>
  </p:sldMasterIdLst>
  <p:notesMasterIdLst>
    <p:notesMasterId r:id="rId13"/>
  </p:notesMasterIdLst>
  <p:sldIdLst>
    <p:sldId id="268" r:id="rId5"/>
    <p:sldId id="264" r:id="rId6"/>
    <p:sldId id="265" r:id="rId7"/>
    <p:sldId id="263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EEE7E4"/>
    <a:srgbClr val="FFFFCC"/>
    <a:srgbClr val="FFCCCC"/>
    <a:srgbClr val="CCFFCC"/>
    <a:srgbClr val="FF9999"/>
    <a:srgbClr val="EFEBE7"/>
    <a:srgbClr val="99FFCC"/>
    <a:srgbClr val="FFCC66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4B3DE-25EF-4C28-B600-4661CE0287A6}" v="47" dt="2024-07-21T02:05:12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901" autoAdjust="0"/>
  </p:normalViewPr>
  <p:slideViewPr>
    <p:cSldViewPr snapToGrid="0">
      <p:cViewPr>
        <p:scale>
          <a:sx n="136" d="100"/>
          <a:sy n="136" d="100"/>
        </p:scale>
        <p:origin x="1604" y="-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8A22A-E5D9-41D2-96B3-0C305ABBA05F}" type="datetimeFigureOut">
              <a:rPr kumimoji="1" lang="ja-JP" altLang="en-US" smtClean="0"/>
              <a:t>2025/11/1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95DA-1DED-4351-A436-B02E859C1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34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・資料は簡易に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嬉しさ</a:t>
            </a:r>
            <a:endParaRPr kumimoji="1" lang="en-US" altLang="ja-JP" dirty="0"/>
          </a:p>
          <a:p>
            <a:r>
              <a:rPr kumimoji="1" lang="ja-JP" altLang="en-US" dirty="0"/>
              <a:t>・若手でも熟練者と同じ判断が可能（ヒトに依存しない）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STEP1</a:t>
            </a:r>
            <a:r>
              <a:rPr kumimoji="1" lang="ja-JP" altLang="en-US" dirty="0"/>
              <a:t>：</a:t>
            </a:r>
            <a:r>
              <a:rPr lang="ja-JP" altLang="en-US" dirty="0"/>
              <a:t>改善活動の優先順位づけができる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STEP2</a:t>
            </a:r>
            <a:r>
              <a:rPr kumimoji="1" lang="ja-JP" altLang="en-US" dirty="0"/>
              <a:t>：改善効果を事前に見積もれる（投資判断がしやすい、</a:t>
            </a:r>
            <a:r>
              <a:rPr lang="ja-JP" altLang="en-US" dirty="0"/>
              <a:t>小さい投資対効果のシミュレーション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効果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F95DA-1DED-4351-A436-B02E859C15B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206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やりたいこと</a:t>
            </a:r>
            <a:endParaRPr kumimoji="1" lang="en-US" altLang="ja-JP" dirty="0"/>
          </a:p>
          <a:p>
            <a:r>
              <a:rPr kumimoji="1" lang="ja-JP" altLang="en-US" dirty="0"/>
              <a:t>・工程スルーでデータを有効活用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現状</a:t>
            </a:r>
            <a:endParaRPr kumimoji="1" lang="en-US" altLang="ja-JP" dirty="0"/>
          </a:p>
          <a:p>
            <a:r>
              <a:rPr kumimoji="1" lang="ja-JP" altLang="en-US" dirty="0"/>
              <a:t>・データばらばらで使える状態ではない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課題</a:t>
            </a:r>
            <a:endParaRPr kumimoji="1" lang="en-US" altLang="ja-JP" dirty="0"/>
          </a:p>
          <a:p>
            <a:r>
              <a:rPr kumimoji="1" lang="ja-JP" altLang="en-US" dirty="0"/>
              <a:t>・データ理解、ドメイン知識が必要</a:t>
            </a:r>
            <a:endParaRPr kumimoji="1" lang="en-US" altLang="ja-JP" dirty="0"/>
          </a:p>
          <a:p>
            <a:r>
              <a:rPr kumimoji="1" lang="ja-JP" altLang="en-US" dirty="0"/>
              <a:t>・データの加工が必要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F95DA-1DED-4351-A436-B02E859C15B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001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機密なし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10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関係者外秘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28" y="0"/>
            <a:ext cx="9901772" cy="6858000"/>
          </a:xfrm>
          <a:prstGeom prst="rect">
            <a:avLst/>
          </a:prstGeom>
        </p:spPr>
      </p:pic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</a:t>
            </a:fld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121885" y="581235"/>
            <a:ext cx="83221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部</a:t>
            </a: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11046532" y="442582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00" b="1" dirty="0">
                <a:solidFill>
                  <a:srgbClr val="FF0000"/>
                </a:solidFill>
              </a:rPr>
              <a:t>DX</a:t>
            </a:r>
            <a:r>
              <a:rPr kumimoji="1" lang="ja-JP" altLang="en-US" sz="800" b="1" dirty="0">
                <a:solidFill>
                  <a:srgbClr val="FF0000"/>
                </a:solidFill>
              </a:rPr>
              <a:t>戦略センター</a:t>
            </a:r>
            <a:endParaRPr kumimoji="1" lang="en-US" altLang="ja-JP" sz="8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ja-JP" sz="800" b="1" dirty="0">
                <a:solidFill>
                  <a:srgbClr val="FF0000"/>
                </a:solidFill>
              </a:rPr>
              <a:t>DS</a:t>
            </a:r>
            <a:endParaRPr kumimoji="1" lang="ja-JP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34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秘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171" y="0"/>
            <a:ext cx="9140829" cy="6858000"/>
          </a:xfrm>
          <a:prstGeom prst="rect">
            <a:avLst/>
          </a:prstGeom>
        </p:spPr>
      </p:pic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121885" y="581235"/>
            <a:ext cx="83221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部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70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極秘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28" y="0"/>
            <a:ext cx="9901772" cy="6858000"/>
          </a:xfrm>
          <a:prstGeom prst="rect">
            <a:avLst/>
          </a:prstGeom>
        </p:spPr>
      </p:pic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</a:t>
            </a:fld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0656939" y="730660"/>
            <a:ext cx="1306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年　　月　　日まで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121885" y="581235"/>
            <a:ext cx="83221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部</a:t>
            </a:r>
          </a:p>
        </p:txBody>
      </p:sp>
    </p:spTree>
    <p:extLst>
      <p:ext uri="{BB962C8B-B14F-4D97-AF65-F5344CB8AC3E}">
        <p14:creationId xmlns:p14="http://schemas.microsoft.com/office/powerpoint/2010/main" val="400703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9C8F-F77C-491F-AE4D-6217FC084D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90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最終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64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見出し1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767396"/>
            <a:ext cx="11341555" cy="5637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本文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21pt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443077" y="273600"/>
            <a:ext cx="11341555" cy="351353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 dirty="0"/>
              <a:t>ページ見出し メイリオ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8" name="日付プレースホルダー 3"/>
          <p:cNvSpPr>
            <a:spLocks noGrp="1"/>
          </p:cNvSpPr>
          <p:nvPr>
            <p:ph type="dt" sz="half" idx="19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2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0036734-z100\Desktop\太向\プレゼンフォーマット\02_アイシングループロゴ\AISINGROUP_LOGODATA_201509\PNG\PNG_color\positive\AG_logo_variation1_colo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840" y="1"/>
            <a:ext cx="789435" cy="7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コネクタ 8"/>
          <p:cNvCxnSpPr/>
          <p:nvPr userDrawn="1"/>
        </p:nvCxnSpPr>
        <p:spPr>
          <a:xfrm>
            <a:off x="0" y="686831"/>
            <a:ext cx="12192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26431" y="188641"/>
            <a:ext cx="4288353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66103" y="6519532"/>
            <a:ext cx="399468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65AE6374-B558-476C-B6C5-10222A839C1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0280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43077" y="306000"/>
            <a:ext cx="1130289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CONTENTS</a:t>
            </a:r>
            <a:endParaRPr kumimoji="1" lang="ja-JP" altLang="en-US" sz="2400" b="1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8D423200-9DDA-EB45-B4AE-06A422E698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6842" y="1080000"/>
            <a:ext cx="10198316" cy="500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baseline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en-US" altLang="ja-JP" dirty="0"/>
              <a:t>1</a:t>
            </a:r>
            <a:r>
              <a:rPr kumimoji="1" lang="ja-JP" altLang="en-US" dirty="0"/>
              <a:t>　項目タイトル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28pt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442339" y="2303884"/>
            <a:ext cx="11307323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tx2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項目タイトル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20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2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見出し1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767396"/>
            <a:ext cx="11341555" cy="5637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本文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21pt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443077" y="273600"/>
            <a:ext cx="11341555" cy="351353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 dirty="0"/>
              <a:t>ページ見出し メイリオ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8" name="日付プレースホルダー 3"/>
          <p:cNvSpPr>
            <a:spLocks noGrp="1"/>
          </p:cNvSpPr>
          <p:nvPr>
            <p:ph type="dt" sz="half" idx="19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2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見出し2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443077" y="273600"/>
            <a:ext cx="11341555" cy="77913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 dirty="0"/>
              <a:t>ページ見出し 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 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D36865C0-32FD-6041-BDCE-3C31AE2B38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3078" y="1232736"/>
            <a:ext cx="11341554" cy="51716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本文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21pt</a:t>
            </a:r>
            <a:endParaRPr kumimoji="1" lang="ja-JP" altLang="en-US" dirty="0"/>
          </a:p>
        </p:txBody>
      </p:sp>
      <p:sp>
        <p:nvSpPr>
          <p:cNvPr id="6" name="日付プレースホルダー 3"/>
          <p:cNvSpPr>
            <a:spLocks noGrp="1"/>
          </p:cNvSpPr>
          <p:nvPr>
            <p:ph type="dt" sz="half" idx="19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38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E4C2EF-773D-B34F-B303-741257996BEA}"/>
              </a:ext>
            </a:extLst>
          </p:cNvPr>
          <p:cNvSpPr txBox="1"/>
          <p:nvPr userDrawn="1"/>
        </p:nvSpPr>
        <p:spPr>
          <a:xfrm>
            <a:off x="443077" y="306000"/>
            <a:ext cx="11302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CONTENTS</a:t>
            </a:r>
            <a:endParaRPr kumimoji="1" lang="ja-JP" altLang="en-US" sz="2000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CAA40E23-9A1E-0940-A59B-09CD3AAE87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6842" y="1080000"/>
            <a:ext cx="10198316" cy="500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baseline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en-US" altLang="ja-JP"/>
              <a:t>1</a:t>
            </a:r>
            <a:r>
              <a:rPr kumimoji="1" lang="ja-JP" altLang="en-US"/>
              <a:t>　項目タイトル</a:t>
            </a:r>
            <a:r>
              <a:rPr kumimoji="1" lang="en-US" altLang="ja-JP"/>
              <a:t> </a:t>
            </a:r>
            <a:r>
              <a:rPr kumimoji="1" lang="ja-JP" altLang="en-US"/>
              <a:t>メイリオ</a:t>
            </a:r>
            <a:r>
              <a:rPr kumimoji="1" lang="en-US" altLang="ja-JP"/>
              <a:t>24pt</a:t>
            </a:r>
          </a:p>
        </p:txBody>
      </p:sp>
    </p:spTree>
    <p:extLst>
      <p:ext uri="{BB962C8B-B14F-4D97-AF65-F5344CB8AC3E}">
        <p14:creationId xmlns:p14="http://schemas.microsoft.com/office/powerpoint/2010/main" val="1556484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875E482E-9BA5-584D-A377-01176B0576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2520001"/>
            <a:ext cx="11307323" cy="1655999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項目タイトル</a:t>
            </a:r>
            <a:r>
              <a:rPr kumimoji="1" lang="en-US" altLang="ja-JP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メイリオ</a:t>
            </a:r>
            <a:r>
              <a:rPr kumimoji="1" lang="en-US" altLang="ja-JP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30pt</a:t>
            </a:r>
            <a:endParaRPr kumimoji="1" lang="ja-JP" altLang="en-US" sz="3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727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1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2">
            <a:extLst>
              <a:ext uri="{FF2B5EF4-FFF2-40B4-BE49-F238E27FC236}">
                <a16:creationId xmlns:a16="http://schemas.microsoft.com/office/drawing/2014/main" id="{3E2ADED7-0ED2-7C47-B4C0-1E5C776280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767396"/>
            <a:ext cx="11307323" cy="5637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本文</a:t>
            </a:r>
            <a:r>
              <a:rPr kumimoji="1" lang="en-US" altLang="ja-JP"/>
              <a:t> </a:t>
            </a:r>
            <a:r>
              <a:rPr kumimoji="1" lang="ja-JP" altLang="en-US"/>
              <a:t>メイリオ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21" name="テキスト プレースホルダー 2">
            <a:extLst>
              <a:ext uri="{FF2B5EF4-FFF2-40B4-BE49-F238E27FC236}">
                <a16:creationId xmlns:a16="http://schemas.microsoft.com/office/drawing/2014/main" id="{015466B9-7F06-204A-B53C-64E4557C25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077" y="306000"/>
            <a:ext cx="11307323" cy="306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ページ見出し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メイリオ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20pt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023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2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テキスト プレースホルダー 2">
            <a:extLst>
              <a:ext uri="{FF2B5EF4-FFF2-40B4-BE49-F238E27FC236}">
                <a16:creationId xmlns:a16="http://schemas.microsoft.com/office/drawing/2014/main" id="{C9A4CBBA-B6A9-0844-B2B8-6153993E55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40" y="1098000"/>
            <a:ext cx="11307323" cy="5306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本文</a:t>
            </a:r>
            <a:r>
              <a:rPr kumimoji="1" lang="en-US" altLang="ja-JP"/>
              <a:t> </a:t>
            </a:r>
            <a:r>
              <a:rPr kumimoji="1" lang="ja-JP" altLang="en-US"/>
              <a:t>メイリオ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24" name="テキスト プレースホルダー 2">
            <a:extLst>
              <a:ext uri="{FF2B5EF4-FFF2-40B4-BE49-F238E27FC236}">
                <a16:creationId xmlns:a16="http://schemas.microsoft.com/office/drawing/2014/main" id="{0A92448B-A105-7F45-A55A-04ED997A09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077" y="306000"/>
            <a:ext cx="11307323" cy="612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ページ見出し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2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行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メイリオ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20pt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03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" y="0"/>
            <a:ext cx="12190839" cy="6858000"/>
          </a:xfrm>
          <a:prstGeom prst="rect">
            <a:avLst/>
          </a:prstGeom>
        </p:spPr>
      </p:pic>
      <p:sp>
        <p:nvSpPr>
          <p:cNvPr id="23" name="コンテンツ プレースホルダー 6">
            <a:extLst>
              <a:ext uri="{FF2B5EF4-FFF2-40B4-BE49-F238E27FC236}">
                <a16:creationId xmlns:a16="http://schemas.microsoft.com/office/drawing/2014/main" id="{3B2F5581-4034-DA46-842F-58D9CD0C1C39}"/>
              </a:ext>
            </a:extLst>
          </p:cNvPr>
          <p:cNvSpPr txBox="1">
            <a:spLocks/>
          </p:cNvSpPr>
          <p:nvPr/>
        </p:nvSpPr>
        <p:spPr>
          <a:xfrm>
            <a:off x="8802000" y="6681600"/>
            <a:ext cx="3240000" cy="1080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11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ja-JP" sz="8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/ © AISIN CORPORATION All Rights Reserved.</a:t>
            </a:r>
            <a:endParaRPr lang="ja-JP" altLang="en-US" sz="85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689600" y="6671691"/>
            <a:ext cx="2228850" cy="129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1" lang="ja-JP" altLang="en-US" sz="850" kern="1200" baseline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fld id="{E5CE2423-1C35-4C12-BAEC-CBD3693D0CE2}" type="datetimeFigureOut">
              <a:rPr kumimoji="1" lang="ja-JP" altLang="en-US" smtClean="0"/>
              <a:t>2025/11/1</a:t>
            </a:fld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751216" y="527"/>
            <a:ext cx="375608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31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2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/>
        </p:nvSpPr>
        <p:spPr>
          <a:xfrm>
            <a:off x="-751216" y="546705"/>
            <a:ext cx="375608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70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/>
        </p:nvSpPr>
        <p:spPr>
          <a:xfrm>
            <a:off x="-751216" y="1092883"/>
            <a:ext cx="375608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09288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1639061"/>
            <a:ext cx="375608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63906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369951"/>
            <a:ext cx="375608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36995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382377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3823773"/>
            <a:ext cx="375608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2731417"/>
            <a:ext cx="375608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2731417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3277595"/>
            <a:ext cx="375608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3277595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5462307"/>
            <a:ext cx="375608" cy="2899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230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R153 G153 B153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91612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R102 G102 B102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916129"/>
            <a:ext cx="375608" cy="289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554662"/>
            <a:ext cx="375608" cy="2899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554662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R235 G235 B235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00848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R204 G204 B204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008485"/>
            <a:ext cx="375608" cy="289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2185239"/>
            <a:ext cx="375608" cy="289920"/>
          </a:xfrm>
          <a:prstGeom prst="rect">
            <a:avLst/>
          </a:prstGeom>
          <a:solidFill>
            <a:srgbClr val="DEE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218523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12.5%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R222 G225 B237</a:t>
            </a:r>
          </a:p>
        </p:txBody>
      </p:sp>
    </p:spTree>
    <p:extLst>
      <p:ext uri="{BB962C8B-B14F-4D97-AF65-F5344CB8AC3E}">
        <p14:creationId xmlns:p14="http://schemas.microsoft.com/office/powerpoint/2010/main" val="398215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6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12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kumimoji="1" sz="105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8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»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751216" y="527"/>
            <a:ext cx="375608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31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2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/>
        </p:nvSpPr>
        <p:spPr>
          <a:xfrm>
            <a:off x="-751216" y="546705"/>
            <a:ext cx="375608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70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/>
        </p:nvSpPr>
        <p:spPr>
          <a:xfrm>
            <a:off x="-751216" y="1092883"/>
            <a:ext cx="375608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09288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1639061"/>
            <a:ext cx="375608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63906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369951"/>
            <a:ext cx="375608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36995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382377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3823773"/>
            <a:ext cx="375608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2731417"/>
            <a:ext cx="375608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2731417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3277595"/>
            <a:ext cx="375608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3277595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5462307"/>
            <a:ext cx="375608" cy="2899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230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R153 G153 B153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91612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R102 G102 B102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916129"/>
            <a:ext cx="375608" cy="289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554662"/>
            <a:ext cx="375608" cy="2899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554662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R235 G235 B235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00848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R204 G204 B204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008485"/>
            <a:ext cx="375608" cy="289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2185239"/>
            <a:ext cx="375608" cy="289920"/>
          </a:xfrm>
          <a:prstGeom prst="rect">
            <a:avLst/>
          </a:prstGeom>
          <a:solidFill>
            <a:srgbClr val="DEE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218523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12.5%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R222 G225 B237</a:t>
            </a:r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" y="0"/>
            <a:ext cx="12190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3" r:id="rId2"/>
    <p:sldLayoutId id="2147483686" r:id="rId3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6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12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kumimoji="1" sz="105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8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»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96818"/>
            <a:ext cx="12192000" cy="261182"/>
          </a:xfrm>
          <a:prstGeom prst="rect">
            <a:avLst/>
          </a:prstGeom>
        </p:spPr>
      </p:pic>
      <p:sp>
        <p:nvSpPr>
          <p:cNvPr id="23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62400" y="6668516"/>
            <a:ext cx="2228850" cy="129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1" lang="ja-JP" altLang="en-US" sz="850" kern="1200" baseline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  <p:sp>
        <p:nvSpPr>
          <p:cNvPr id="24" name="コンテンツ プレースホルダー 6">
            <a:extLst>
              <a:ext uri="{FF2B5EF4-FFF2-40B4-BE49-F238E27FC236}">
                <a16:creationId xmlns:a16="http://schemas.microsoft.com/office/drawing/2014/main" id="{3B2F5581-4034-DA46-842F-58D9CD0C1C39}"/>
              </a:ext>
            </a:extLst>
          </p:cNvPr>
          <p:cNvSpPr txBox="1">
            <a:spLocks/>
          </p:cNvSpPr>
          <p:nvPr/>
        </p:nvSpPr>
        <p:spPr>
          <a:xfrm>
            <a:off x="8092800" y="6681600"/>
            <a:ext cx="3240000" cy="1080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11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ja-JP" sz="8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© AISIN CORPORATION All Rights Reserved.</a:t>
            </a:r>
            <a:endParaRPr lang="ja-JP" altLang="en-US" sz="85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スライド番号プレースホルダー 1"/>
          <p:cNvSpPr txBox="1">
            <a:spLocks/>
          </p:cNvSpPr>
          <p:nvPr/>
        </p:nvSpPr>
        <p:spPr>
          <a:xfrm>
            <a:off x="11131200" y="6645303"/>
            <a:ext cx="809560" cy="173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ja-JP" altLang="en-US" sz="1300" kern="120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ED8002-315A-4F99-B394-092101E2DCBD}" type="slidenum">
              <a:rPr lang="en-US" altLang="ja-JP" smtClean="0"/>
              <a:pPr/>
              <a:t>‹#›</a:t>
            </a:fld>
            <a:r>
              <a:rPr lang="en-US" altLang="ja-JP" dirty="0"/>
              <a:t>/*0</a:t>
            </a:r>
            <a:endParaRPr lang="en-US" dirty="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751216" y="527"/>
            <a:ext cx="375608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31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2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/>
        </p:nvSpPr>
        <p:spPr>
          <a:xfrm>
            <a:off x="-751216" y="546705"/>
            <a:ext cx="375608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70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/>
        </p:nvSpPr>
        <p:spPr>
          <a:xfrm>
            <a:off x="-751216" y="1092883"/>
            <a:ext cx="375608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09288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1639061"/>
            <a:ext cx="375608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63906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369951"/>
            <a:ext cx="375608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36995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382377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3823773"/>
            <a:ext cx="375608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2731417"/>
            <a:ext cx="375608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2731417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3277595"/>
            <a:ext cx="375608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3277595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5462307"/>
            <a:ext cx="375608" cy="2899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230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R153 G153 B153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91612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R102 G102 B102</a:t>
            </a: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916129"/>
            <a:ext cx="375608" cy="289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554662"/>
            <a:ext cx="375608" cy="2899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554662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R235 G235 B235</a:t>
            </a: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00848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R204 G204 B204</a:t>
            </a: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008485"/>
            <a:ext cx="375608" cy="289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2185239"/>
            <a:ext cx="375608" cy="289920"/>
          </a:xfrm>
          <a:prstGeom prst="rect">
            <a:avLst/>
          </a:prstGeom>
          <a:solidFill>
            <a:srgbClr val="DEE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218523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12.5%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R222 G225 B237</a:t>
            </a:r>
          </a:p>
        </p:txBody>
      </p:sp>
    </p:spTree>
    <p:extLst>
      <p:ext uri="{BB962C8B-B14F-4D97-AF65-F5344CB8AC3E}">
        <p14:creationId xmlns:p14="http://schemas.microsoft.com/office/powerpoint/2010/main" val="81249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8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–"/>
        <a:tabLst/>
        <a:defRPr kumimoji="1" sz="12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1" sz="105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93600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»"/>
        <a:tabLst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AE3FCF5-2596-A246-B660-4FEF458907DD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53292" y="6601968"/>
            <a:ext cx="11738708" cy="256032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 userDrawn="1"/>
        </p:nvSpPr>
        <p:spPr>
          <a:xfrm>
            <a:off x="4873846" y="6696000"/>
            <a:ext cx="1063385" cy="108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ja-JP" sz="700" b="1" dirty="0">
                <a:solidFill>
                  <a:schemeClr val="bg1"/>
                </a:solidFill>
              </a:rPr>
              <a:t>DS</a:t>
            </a:r>
            <a:r>
              <a:rPr kumimoji="1" lang="ja-JP" altLang="en-US" sz="700" b="1" dirty="0">
                <a:solidFill>
                  <a:schemeClr val="bg1"/>
                </a:solidFill>
              </a:rPr>
              <a:t>部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DD5FFD-127C-DD47-9BF7-CB6A75491278}"/>
              </a:ext>
            </a:extLst>
          </p:cNvPr>
          <p:cNvSpPr txBox="1"/>
          <p:nvPr userDrawn="1"/>
        </p:nvSpPr>
        <p:spPr>
          <a:xfrm>
            <a:off x="11569100" y="6612745"/>
            <a:ext cx="527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DD04DF85-ADCB-4E8A-A23F-C9CEF091EC87}" type="slidenum">
              <a:rPr lang="ja-JP" altLang="en-US" sz="1000" smtClean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pPr algn="r"/>
              <a:t>‹#›</a:t>
            </a:fld>
            <a:r>
              <a:rPr lang="en-US" altLang="ja-JP"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/00</a:t>
            </a:r>
            <a:endParaRPr lang="ja-JP" altLang="en-US" sz="10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コンテンツ プレースホルダー 6">
            <a:extLst>
              <a:ext uri="{FF2B5EF4-FFF2-40B4-BE49-F238E27FC236}">
                <a16:creationId xmlns:a16="http://schemas.microsoft.com/office/drawing/2014/main" id="{E47FB8F7-E074-7A44-87D1-3AC4F6A817DA}"/>
              </a:ext>
            </a:extLst>
          </p:cNvPr>
          <p:cNvSpPr txBox="1">
            <a:spLocks/>
          </p:cNvSpPr>
          <p:nvPr userDrawn="1"/>
        </p:nvSpPr>
        <p:spPr>
          <a:xfrm>
            <a:off x="7443692" y="6681600"/>
            <a:ext cx="3987692" cy="1080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11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Jan. 0</a:t>
            </a:r>
            <a:r>
              <a:rPr lang="en-US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en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2021 / © AISIN CORPORATION All Rights Reserved.</a:t>
            </a:r>
            <a:endParaRPr lang="ja-JP" altLang="en-US" sz="7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1085090" y="527"/>
            <a:ext cx="542545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52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 userDrawn="1"/>
        </p:nvSpPr>
        <p:spPr>
          <a:xfrm>
            <a:off x="-1085090" y="549207"/>
            <a:ext cx="542545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54920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 userDrawn="1"/>
        </p:nvSpPr>
        <p:spPr>
          <a:xfrm>
            <a:off x="-1085090" y="1097887"/>
            <a:ext cx="542545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109788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 userDrawn="1"/>
        </p:nvSpPr>
        <p:spPr>
          <a:xfrm>
            <a:off x="-1085090" y="1646567"/>
            <a:ext cx="542545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164656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 userDrawn="1"/>
        </p:nvSpPr>
        <p:spPr>
          <a:xfrm>
            <a:off x="-1085090" y="3861363"/>
            <a:ext cx="542545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610860" y="3861363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52004" y="3308012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 userDrawn="1"/>
        </p:nvSpPr>
        <p:spPr>
          <a:xfrm>
            <a:off x="-1085090" y="3308012"/>
            <a:ext cx="542545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 userDrawn="1"/>
        </p:nvSpPr>
        <p:spPr>
          <a:xfrm>
            <a:off x="-1085090" y="2201310"/>
            <a:ext cx="542545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610859" y="2201310"/>
            <a:ext cx="1584626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 userDrawn="1"/>
        </p:nvSpPr>
        <p:spPr>
          <a:xfrm>
            <a:off x="-1085090" y="2754661"/>
            <a:ext cx="542545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610859" y="2754661"/>
            <a:ext cx="1584626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</p:spTree>
    <p:extLst>
      <p:ext uri="{BB962C8B-B14F-4D97-AF65-F5344CB8AC3E}">
        <p14:creationId xmlns:p14="http://schemas.microsoft.com/office/powerpoint/2010/main" val="163855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6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12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kumimoji="1" sz="105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8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9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»"/>
        <a:defRPr kumimoji="1" sz="9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DC168BA-66EC-8F24-8B76-C048D6D91C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ja-JP" altLang="en-US" dirty="0"/>
              <a:t>振り返り</a:t>
            </a:r>
          </a:p>
          <a:p>
            <a:r>
              <a:rPr lang="ja-JP" altLang="en-US" dirty="0"/>
              <a:t>データの説明</a:t>
            </a:r>
          </a:p>
          <a:p>
            <a:r>
              <a:rPr lang="ja-JP" altLang="en-US" dirty="0"/>
              <a:t>開発アプローチの相談</a:t>
            </a:r>
          </a:p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C75B5F-E2DC-1CBA-42B5-CA43CA0AD3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ja-JP" altLang="en-US" sz="2400" dirty="0"/>
              <a:t>議題</a:t>
            </a:r>
          </a:p>
        </p:txBody>
      </p:sp>
    </p:spTree>
    <p:extLst>
      <p:ext uri="{BB962C8B-B14F-4D97-AF65-F5344CB8AC3E}">
        <p14:creationId xmlns:p14="http://schemas.microsoft.com/office/powerpoint/2010/main" val="212781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B550BD-9170-65DC-8C76-102ED4C6ED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B20163C-EB68-2F16-E774-CE4D54357C4C}"/>
              </a:ext>
            </a:extLst>
          </p:cNvPr>
          <p:cNvSpPr/>
          <p:nvPr/>
        </p:nvSpPr>
        <p:spPr>
          <a:xfrm>
            <a:off x="834444" y="4342768"/>
            <a:ext cx="2390276" cy="1901086"/>
          </a:xfrm>
          <a:prstGeom prst="roundRect">
            <a:avLst>
              <a:gd name="adj" fmla="val 65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3C5B1349-3458-37F7-2A3B-D5D83494A034}"/>
              </a:ext>
            </a:extLst>
          </p:cNvPr>
          <p:cNvSpPr/>
          <p:nvPr/>
        </p:nvSpPr>
        <p:spPr>
          <a:xfrm>
            <a:off x="834444" y="2243871"/>
            <a:ext cx="2390276" cy="1901086"/>
          </a:xfrm>
          <a:prstGeom prst="roundRect">
            <a:avLst>
              <a:gd name="adj" fmla="val 65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60BCC41-8E40-BDF8-FB15-6589A46CF8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ja-JP" altLang="en-US" sz="2000" dirty="0">
                <a:solidFill>
                  <a:schemeClr val="bg1">
                    <a:lumMod val="50000"/>
                  </a:schemeClr>
                </a:solidFill>
              </a:rPr>
              <a:t>振り返り</a:t>
            </a:r>
            <a:endParaRPr kumimoji="1" lang="en-US" altLang="ja-JP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工場</a:t>
            </a:r>
            <a:r>
              <a:rPr lang="en-US" altLang="ja-JP" dirty="0">
                <a:solidFill>
                  <a:schemeClr val="tx1"/>
                </a:solidFill>
              </a:rPr>
              <a:t>IoT</a:t>
            </a:r>
            <a:r>
              <a:rPr lang="ja-JP" altLang="en-US" dirty="0">
                <a:solidFill>
                  <a:schemeClr val="tx1"/>
                </a:solidFill>
              </a:rPr>
              <a:t>データを用いた生産数増減の要因推定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4E8E6B-9896-250B-DC1C-7BFAEEEC10B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  <p:pic>
        <p:nvPicPr>
          <p:cNvPr id="10" name="グラフィックス 9" descr="棒グラフ 単色塗りつぶし">
            <a:extLst>
              <a:ext uri="{FF2B5EF4-FFF2-40B4-BE49-F238E27FC236}">
                <a16:creationId xmlns:a16="http://schemas.microsoft.com/office/drawing/2014/main" id="{EA54AA57-C35C-F0C6-8EB3-9A9FDF615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0378" y="3188201"/>
            <a:ext cx="914400" cy="9144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55FAB8A-152C-A28A-A6DE-15C6A0FF29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45" y="2818694"/>
            <a:ext cx="779136" cy="77913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B26F310-2E93-3D7B-F1E9-C18BEDD8CA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45" y="4974494"/>
            <a:ext cx="850087" cy="850087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85255FA-FB41-D000-7F73-8325914F7B76}"/>
              </a:ext>
            </a:extLst>
          </p:cNvPr>
          <p:cNvSpPr txBox="1"/>
          <p:nvPr/>
        </p:nvSpPr>
        <p:spPr>
          <a:xfrm>
            <a:off x="1074715" y="232374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1"/>
                </a:solidFill>
              </a:rPr>
              <a:t>生産数データ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5ACBB24-31CE-9BB9-172D-FE3E64EF4353}"/>
              </a:ext>
            </a:extLst>
          </p:cNvPr>
          <p:cNvSpPr txBox="1"/>
          <p:nvPr/>
        </p:nvSpPr>
        <p:spPr>
          <a:xfrm>
            <a:off x="834444" y="443602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1"/>
                </a:solidFill>
              </a:rPr>
              <a:t>設備稼働データ</a:t>
            </a:r>
          </a:p>
        </p:txBody>
      </p:sp>
      <p:pic>
        <p:nvPicPr>
          <p:cNvPr id="18" name="グラフィックス 17" descr="下降基調のグラフ 単色塗りつぶし">
            <a:extLst>
              <a:ext uri="{FF2B5EF4-FFF2-40B4-BE49-F238E27FC236}">
                <a16:creationId xmlns:a16="http://schemas.microsoft.com/office/drawing/2014/main" id="{08569AF8-6A6B-7677-6544-CF3E50E33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0377" y="5293311"/>
            <a:ext cx="914400" cy="914400"/>
          </a:xfrm>
          <a:prstGeom prst="rect">
            <a:avLst/>
          </a:prstGeom>
        </p:spPr>
      </p:pic>
      <p:sp>
        <p:nvSpPr>
          <p:cNvPr id="21" name="矢印: 右 20">
            <a:extLst>
              <a:ext uri="{FF2B5EF4-FFF2-40B4-BE49-F238E27FC236}">
                <a16:creationId xmlns:a16="http://schemas.microsoft.com/office/drawing/2014/main" id="{0E3504FE-6E04-7F0E-45A3-2815926C039E}"/>
              </a:ext>
            </a:extLst>
          </p:cNvPr>
          <p:cNvSpPr/>
          <p:nvPr/>
        </p:nvSpPr>
        <p:spPr>
          <a:xfrm>
            <a:off x="3828428" y="3915382"/>
            <a:ext cx="864568" cy="65725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8197424-EA0F-EFF6-61BD-3DF5299103B5}"/>
              </a:ext>
            </a:extLst>
          </p:cNvPr>
          <p:cNvSpPr/>
          <p:nvPr/>
        </p:nvSpPr>
        <p:spPr>
          <a:xfrm>
            <a:off x="5199434" y="2232939"/>
            <a:ext cx="6610785" cy="4090481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22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4CDB927-FA2D-49F1-9F32-AD3A302929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053F52-1FCF-BACB-2C14-C33088EB0B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ja-JP" altLang="en-US" dirty="0"/>
              <a:t>問題設定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B5FF11-8B2F-A08B-AF6F-4F9031FE30B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0971C45-C356-13F4-3D57-C67F9004B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934823"/>
              </p:ext>
            </p:extLst>
          </p:nvPr>
        </p:nvGraphicFramePr>
        <p:xfrm>
          <a:off x="519349" y="1882121"/>
          <a:ext cx="11138079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65500">
                  <a:extLst>
                    <a:ext uri="{9D8B030D-6E8A-4147-A177-3AD203B41FA5}">
                      <a16:colId xmlns:a16="http://schemas.microsoft.com/office/drawing/2014/main" val="837033915"/>
                    </a:ext>
                  </a:extLst>
                </a:gridCol>
                <a:gridCol w="6659886">
                  <a:extLst>
                    <a:ext uri="{9D8B030D-6E8A-4147-A177-3AD203B41FA5}">
                      <a16:colId xmlns:a16="http://schemas.microsoft.com/office/drawing/2014/main" val="355829890"/>
                    </a:ext>
                  </a:extLst>
                </a:gridCol>
                <a:gridCol w="3712693">
                  <a:extLst>
                    <a:ext uri="{9D8B030D-6E8A-4147-A177-3AD203B41FA5}">
                      <a16:colId xmlns:a16="http://schemas.microsoft.com/office/drawing/2014/main" val="1457454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chemeClr val="bg1"/>
                          </a:solidFill>
                        </a:rPr>
                        <a:t>❶回帰的アプローチ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chemeClr val="bg1"/>
                          </a:solidFill>
                        </a:rPr>
                        <a:t>❷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98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生産数 </a:t>
                      </a:r>
                      <a:r>
                        <a:rPr kumimoji="1" lang="en-US" altLang="ja-JP" dirty="0"/>
                        <a:t>= a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× </a:t>
                      </a:r>
                      <a:r>
                        <a:rPr kumimoji="1" lang="ja-JP" altLang="en-US" dirty="0"/>
                        <a:t>設備</a:t>
                      </a:r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電力値 </a:t>
                      </a:r>
                      <a:r>
                        <a:rPr kumimoji="1" lang="en-US" altLang="ja-JP" dirty="0"/>
                        <a:t>+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 </a:t>
                      </a:r>
                      <a:r>
                        <a:rPr kumimoji="1" lang="en-US" altLang="ja-JP" dirty="0"/>
                        <a:t>× </a:t>
                      </a:r>
                      <a:r>
                        <a:rPr kumimoji="1" lang="ja-JP" altLang="en-US" dirty="0"/>
                        <a:t>設備</a:t>
                      </a:r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の電力値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097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72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9617774-5C2D-DAA3-212D-4645FED55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ja-JP" altLang="en-US" dirty="0"/>
              <a:t>・生産数が低下したことをトリガーに分析開始、設備が正常に稼働していない時間帯を探す</a:t>
            </a:r>
            <a:endParaRPr kumimoji="1" lang="en-US" altLang="ja-JP" dirty="0"/>
          </a:p>
          <a:p>
            <a:r>
              <a:rPr lang="ja-JP" altLang="en-US" dirty="0"/>
              <a:t>　・生産がいいときの結果が分からない？</a:t>
            </a:r>
            <a:endParaRPr kumimoji="1" lang="en-US" altLang="ja-JP" dirty="0"/>
          </a:p>
          <a:p>
            <a:r>
              <a:rPr lang="ja-JP" altLang="en-US" dirty="0"/>
              <a:t>・生産数と設備の稼働データを回帰モデルにして、リアルタイムで結果を表示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A8A86F-11B9-B285-1962-C27AC955F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9181AD-D4D1-240D-56F8-D32746F2661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8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F5CA6EEE-6242-BC60-35CF-801B8C109647}"/>
              </a:ext>
            </a:extLst>
          </p:cNvPr>
          <p:cNvSpPr/>
          <p:nvPr/>
        </p:nvSpPr>
        <p:spPr>
          <a:xfrm>
            <a:off x="3916170" y="2616093"/>
            <a:ext cx="3065450" cy="3848187"/>
          </a:xfrm>
          <a:prstGeom prst="roundRect">
            <a:avLst>
              <a:gd name="adj" fmla="val 502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62A3DA99-C9BA-68C3-F04D-8E0C88D65B14}"/>
              </a:ext>
            </a:extLst>
          </p:cNvPr>
          <p:cNvSpPr/>
          <p:nvPr/>
        </p:nvSpPr>
        <p:spPr>
          <a:xfrm>
            <a:off x="7890334" y="2616093"/>
            <a:ext cx="4052999" cy="3848187"/>
          </a:xfrm>
          <a:prstGeom prst="roundRect">
            <a:avLst>
              <a:gd name="adj" fmla="val 5023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C02D636-81D1-C502-1C42-8CFAF03C73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4904" y="777123"/>
            <a:ext cx="11341555" cy="5637600"/>
          </a:xfrm>
        </p:spPr>
        <p:txBody>
          <a:bodyPr/>
          <a:lstStyle/>
          <a:p>
            <a:r>
              <a:rPr kumimoji="1" lang="ja-JP" altLang="en-US" sz="2000" dirty="0"/>
              <a:t>「どの設備をいじれば完成数がどれだけ上がるか」</a:t>
            </a:r>
            <a:r>
              <a:rPr kumimoji="1" lang="ja-JP" altLang="en-US" sz="2000" b="0" dirty="0"/>
              <a:t>を事前に試算できるツール</a:t>
            </a:r>
            <a:endParaRPr kumimoji="1" lang="en-US" altLang="ja-JP" sz="2000" b="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415715-B3B0-6F25-2446-4D44ACE614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u="sng" dirty="0">
                <a:solidFill>
                  <a:schemeClr val="accent1"/>
                </a:solidFill>
              </a:rPr>
              <a:t>【</a:t>
            </a:r>
            <a:r>
              <a:rPr kumimoji="1" lang="ja-JP" altLang="en-US" u="sng" dirty="0">
                <a:solidFill>
                  <a:schemeClr val="accent1"/>
                </a:solidFill>
              </a:rPr>
              <a:t>製造領域</a:t>
            </a:r>
            <a:r>
              <a:rPr kumimoji="1" lang="en-US" altLang="ja-JP" u="sng" dirty="0">
                <a:solidFill>
                  <a:schemeClr val="accent1"/>
                </a:solidFill>
              </a:rPr>
              <a:t>】</a:t>
            </a:r>
            <a:r>
              <a:rPr kumimoji="1" lang="ja-JP" altLang="en-US" u="sng" dirty="0">
                <a:solidFill>
                  <a:schemeClr val="accent1"/>
                </a:solidFill>
              </a:rPr>
              <a:t>因果探索技術の活用案１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C4E176-08FF-0BA7-2F0C-F8337A54A64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  <p:sp>
        <p:nvSpPr>
          <p:cNvPr id="34" name="フローチャート: 内部記憶 33">
            <a:extLst>
              <a:ext uri="{FF2B5EF4-FFF2-40B4-BE49-F238E27FC236}">
                <a16:creationId xmlns:a16="http://schemas.microsoft.com/office/drawing/2014/main" id="{75B90FCF-8900-480F-4E07-5EB9E161D3D1}"/>
              </a:ext>
            </a:extLst>
          </p:cNvPr>
          <p:cNvSpPr/>
          <p:nvPr/>
        </p:nvSpPr>
        <p:spPr>
          <a:xfrm>
            <a:off x="999381" y="2793479"/>
            <a:ext cx="1279187" cy="1099227"/>
          </a:xfrm>
          <a:prstGeom prst="flowChartInternalStorag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フローチャート: 内部記憶 34">
            <a:extLst>
              <a:ext uri="{FF2B5EF4-FFF2-40B4-BE49-F238E27FC236}">
                <a16:creationId xmlns:a16="http://schemas.microsoft.com/office/drawing/2014/main" id="{5D1FD01B-0AB0-C30A-670D-02452A9CCDF9}"/>
              </a:ext>
            </a:extLst>
          </p:cNvPr>
          <p:cNvSpPr/>
          <p:nvPr/>
        </p:nvSpPr>
        <p:spPr>
          <a:xfrm>
            <a:off x="987840" y="4758706"/>
            <a:ext cx="1279187" cy="1099227"/>
          </a:xfrm>
          <a:prstGeom prst="flowChartInternalStorag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3C24713E-654C-8E0D-BEDB-FC1EF9A106D4}"/>
              </a:ext>
            </a:extLst>
          </p:cNvPr>
          <p:cNvSpPr/>
          <p:nvPr/>
        </p:nvSpPr>
        <p:spPr>
          <a:xfrm>
            <a:off x="2972417" y="4163691"/>
            <a:ext cx="611607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AF773DC-BCF9-5F3C-2C50-CD8D476863B1}"/>
              </a:ext>
            </a:extLst>
          </p:cNvPr>
          <p:cNvSpPr txBox="1"/>
          <p:nvPr/>
        </p:nvSpPr>
        <p:spPr>
          <a:xfrm>
            <a:off x="853089" y="397902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完成数データ</a:t>
            </a:r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63F91EA-7BF5-9093-C7FB-BA9EC535C5C4}"/>
              </a:ext>
            </a:extLst>
          </p:cNvPr>
          <p:cNvSpPr txBox="1"/>
          <p:nvPr/>
        </p:nvSpPr>
        <p:spPr>
          <a:xfrm>
            <a:off x="756988" y="595297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設備稼働データ</a:t>
            </a:r>
            <a:endParaRPr kumimoji="1" lang="ja-JP" altLang="en-US" dirty="0"/>
          </a:p>
        </p:txBody>
      </p:sp>
      <p:sp>
        <p:nvSpPr>
          <p:cNvPr id="40" name="矢印: 五方向 39">
            <a:extLst>
              <a:ext uri="{FF2B5EF4-FFF2-40B4-BE49-F238E27FC236}">
                <a16:creationId xmlns:a16="http://schemas.microsoft.com/office/drawing/2014/main" id="{33B0134D-31FC-3276-5E7E-3767027F2FEE}"/>
              </a:ext>
            </a:extLst>
          </p:cNvPr>
          <p:cNvSpPr/>
          <p:nvPr/>
        </p:nvSpPr>
        <p:spPr>
          <a:xfrm>
            <a:off x="678342" y="1479023"/>
            <a:ext cx="2729601" cy="484632"/>
          </a:xfrm>
          <a:prstGeom prst="homePlat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STEP0</a:t>
            </a:r>
            <a:r>
              <a:rPr kumimoji="1" lang="ja-JP" altLang="en-US" b="1" dirty="0"/>
              <a:t>：現状</a:t>
            </a:r>
          </a:p>
        </p:txBody>
      </p:sp>
      <p:sp>
        <p:nvSpPr>
          <p:cNvPr id="41" name="矢印: 山形 40">
            <a:extLst>
              <a:ext uri="{FF2B5EF4-FFF2-40B4-BE49-F238E27FC236}">
                <a16:creationId xmlns:a16="http://schemas.microsoft.com/office/drawing/2014/main" id="{08A97E4E-E77F-5530-A09A-E38B883531F1}"/>
              </a:ext>
            </a:extLst>
          </p:cNvPr>
          <p:cNvSpPr/>
          <p:nvPr/>
        </p:nvSpPr>
        <p:spPr>
          <a:xfrm>
            <a:off x="3278221" y="1479023"/>
            <a:ext cx="4289898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</a:rPr>
              <a:t>STEP1</a:t>
            </a:r>
            <a:r>
              <a:rPr lang="ja-JP" altLang="en-US" b="1" dirty="0">
                <a:solidFill>
                  <a:schemeClr val="bg1"/>
                </a:solidFill>
              </a:rPr>
              <a:t>：</a:t>
            </a:r>
            <a:r>
              <a:rPr kumimoji="1" lang="ja-JP" altLang="en-US" b="1" dirty="0">
                <a:solidFill>
                  <a:schemeClr val="bg1"/>
                </a:solidFill>
              </a:rPr>
              <a:t>ボトルネック特定</a:t>
            </a:r>
          </a:p>
        </p:txBody>
      </p:sp>
      <p:sp>
        <p:nvSpPr>
          <p:cNvPr id="42" name="矢印: 山形 41">
            <a:extLst>
              <a:ext uri="{FF2B5EF4-FFF2-40B4-BE49-F238E27FC236}">
                <a16:creationId xmlns:a16="http://schemas.microsoft.com/office/drawing/2014/main" id="{0878162F-3E04-97DF-33C3-40D14889E222}"/>
              </a:ext>
            </a:extLst>
          </p:cNvPr>
          <p:cNvSpPr/>
          <p:nvPr/>
        </p:nvSpPr>
        <p:spPr>
          <a:xfrm>
            <a:off x="7441660" y="1479023"/>
            <a:ext cx="4651592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</a:rPr>
              <a:t>STEP2</a:t>
            </a:r>
            <a:r>
              <a:rPr lang="ja-JP" altLang="en-US" b="1" dirty="0">
                <a:solidFill>
                  <a:schemeClr val="bg1"/>
                </a:solidFill>
              </a:rPr>
              <a:t>：改善シミュレーション</a:t>
            </a:r>
            <a:r>
              <a:rPr kumimoji="1" lang="ja-JP" altLang="en-US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C82BE6C-B3F3-8825-6EDA-D8999C060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803" y="2855551"/>
            <a:ext cx="2649118" cy="25687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2" name="吹き出し: 四角形 61">
            <a:extLst>
              <a:ext uri="{FF2B5EF4-FFF2-40B4-BE49-F238E27FC236}">
                <a16:creationId xmlns:a16="http://schemas.microsoft.com/office/drawing/2014/main" id="{C01E98F0-465C-54DE-0399-BF60F1EA8F15}"/>
              </a:ext>
            </a:extLst>
          </p:cNvPr>
          <p:cNvSpPr/>
          <p:nvPr/>
        </p:nvSpPr>
        <p:spPr>
          <a:xfrm>
            <a:off x="8301089" y="2855551"/>
            <a:ext cx="1765458" cy="1113435"/>
          </a:xfrm>
          <a:prstGeom prst="wedgeRectCallout">
            <a:avLst>
              <a:gd name="adj1" fmla="val 68212"/>
              <a:gd name="adj2" fmla="val 340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設備</a:t>
            </a:r>
            <a:r>
              <a:rPr kumimoji="1" lang="en-US" altLang="ja-JP" sz="1400" dirty="0">
                <a:solidFill>
                  <a:schemeClr val="tx1"/>
                </a:solidFill>
              </a:rPr>
              <a:t>X</a:t>
            </a:r>
            <a:r>
              <a:rPr kumimoji="1" lang="ja-JP" altLang="en-US" sz="1400" dirty="0">
                <a:solidFill>
                  <a:schemeClr val="tx1"/>
                </a:solidFill>
              </a:rPr>
              <a:t>の</a:t>
            </a:r>
            <a:r>
              <a:rPr lang="ja-JP" altLang="en-US" sz="1400" dirty="0">
                <a:solidFill>
                  <a:schemeClr val="tx1"/>
                </a:solidFill>
              </a:rPr>
              <a:t>稼働時間を</a:t>
            </a:r>
            <a:r>
              <a:rPr lang="en-US" altLang="ja-JP" sz="1400" dirty="0">
                <a:solidFill>
                  <a:schemeClr val="tx1"/>
                </a:solidFill>
              </a:rPr>
              <a:t>5%</a:t>
            </a:r>
            <a:r>
              <a:rPr lang="ja-JP" altLang="en-US" sz="1400" dirty="0">
                <a:solidFill>
                  <a:schemeClr val="tx1"/>
                </a:solidFill>
              </a:rPr>
              <a:t>上げると、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完成数は何</a:t>
            </a:r>
            <a:r>
              <a:rPr kumimoji="1" lang="en-US" altLang="ja-JP" sz="1400" dirty="0">
                <a:solidFill>
                  <a:schemeClr val="tx1"/>
                </a:solidFill>
              </a:rPr>
              <a:t>%</a:t>
            </a:r>
            <a:r>
              <a:rPr kumimoji="1" lang="ja-JP" altLang="en-US" sz="1400" dirty="0">
                <a:solidFill>
                  <a:schemeClr val="tx1"/>
                </a:solidFill>
              </a:rPr>
              <a:t>改善される？</a:t>
            </a:r>
          </a:p>
        </p:txBody>
      </p:sp>
      <p:pic>
        <p:nvPicPr>
          <p:cNvPr id="64" name="グラフィックス 63" descr="ユーザー 単色塗りつぶし">
            <a:extLst>
              <a:ext uri="{FF2B5EF4-FFF2-40B4-BE49-F238E27FC236}">
                <a16:creationId xmlns:a16="http://schemas.microsoft.com/office/drawing/2014/main" id="{B9BFA38B-8205-6B25-1768-E1A316091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0976" y="3205541"/>
            <a:ext cx="914400" cy="914400"/>
          </a:xfrm>
          <a:prstGeom prst="rect">
            <a:avLst/>
          </a:prstGeom>
        </p:spPr>
      </p:pic>
      <p:pic>
        <p:nvPicPr>
          <p:cNvPr id="66" name="グラフィックス 65" descr="ロボット 単色塗りつぶし">
            <a:extLst>
              <a:ext uri="{FF2B5EF4-FFF2-40B4-BE49-F238E27FC236}">
                <a16:creationId xmlns:a16="http://schemas.microsoft.com/office/drawing/2014/main" id="{DE610196-FC7A-74A1-D83D-253D896AE0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1895" y="5170666"/>
            <a:ext cx="914400" cy="914400"/>
          </a:xfrm>
          <a:prstGeom prst="rect">
            <a:avLst/>
          </a:prstGeom>
        </p:spPr>
      </p:pic>
      <p:sp>
        <p:nvSpPr>
          <p:cNvPr id="67" name="吹き出し: 四角形 66">
            <a:extLst>
              <a:ext uri="{FF2B5EF4-FFF2-40B4-BE49-F238E27FC236}">
                <a16:creationId xmlns:a16="http://schemas.microsoft.com/office/drawing/2014/main" id="{155A6D6A-46CB-62CE-3600-7BC71F1ED861}"/>
              </a:ext>
            </a:extLst>
          </p:cNvPr>
          <p:cNvSpPr/>
          <p:nvPr/>
        </p:nvSpPr>
        <p:spPr>
          <a:xfrm>
            <a:off x="9643317" y="4845913"/>
            <a:ext cx="1973938" cy="1113435"/>
          </a:xfrm>
          <a:prstGeom prst="wedgeRectCallout">
            <a:avLst>
              <a:gd name="adj1" fmla="val -69262"/>
              <a:gd name="adj2" fmla="val 2744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完成数は</a:t>
            </a:r>
            <a:r>
              <a:rPr kumimoji="1" lang="en-US" altLang="ja-JP" sz="1400" b="1" dirty="0">
                <a:solidFill>
                  <a:schemeClr val="accent6"/>
                </a:solidFill>
              </a:rPr>
              <a:t>Y%</a:t>
            </a:r>
            <a:r>
              <a:rPr kumimoji="1" lang="ja-JP" altLang="en-US" sz="1400" b="1" dirty="0">
                <a:solidFill>
                  <a:schemeClr val="accent6"/>
                </a:solidFill>
              </a:rPr>
              <a:t>改善</a:t>
            </a:r>
            <a:r>
              <a:rPr kumimoji="1" lang="ja-JP" altLang="en-US" sz="1400" dirty="0">
                <a:solidFill>
                  <a:schemeClr val="tx1"/>
                </a:solidFill>
              </a:rPr>
              <a:t>されるでしょう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CBD90DE8-29BE-B33C-3527-7D6A6AB37EDD}"/>
              </a:ext>
            </a:extLst>
          </p:cNvPr>
          <p:cNvSpPr txBox="1"/>
          <p:nvPr/>
        </p:nvSpPr>
        <p:spPr>
          <a:xfrm>
            <a:off x="8263593" y="4279425"/>
            <a:ext cx="2827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介入シミュレーション中・・・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63813D12-E293-E4EA-D71E-E06B2D361D82}"/>
              </a:ext>
            </a:extLst>
          </p:cNvPr>
          <p:cNvSpPr txBox="1"/>
          <p:nvPr/>
        </p:nvSpPr>
        <p:spPr>
          <a:xfrm>
            <a:off x="4671531" y="565906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寄与度可視化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21EC3A7-76D8-C78B-5AC1-BFBEA67F62CC}"/>
              </a:ext>
            </a:extLst>
          </p:cNvPr>
          <p:cNvSpPr txBox="1"/>
          <p:nvPr/>
        </p:nvSpPr>
        <p:spPr>
          <a:xfrm>
            <a:off x="831081" y="2151109"/>
            <a:ext cx="1903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✅過去の振り返り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EFB540E-7AEF-AD94-74B6-87A1147440DC}"/>
              </a:ext>
            </a:extLst>
          </p:cNvPr>
          <p:cNvSpPr txBox="1"/>
          <p:nvPr/>
        </p:nvSpPr>
        <p:spPr>
          <a:xfrm>
            <a:off x="3665219" y="2166340"/>
            <a:ext cx="3954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✅重点設備の可視化（</a:t>
            </a:r>
            <a:r>
              <a:rPr lang="ja-JP" altLang="en-US" sz="1600" dirty="0"/>
              <a:t>次の打ち手検討</a:t>
            </a:r>
            <a:r>
              <a:rPr kumimoji="1" lang="ja-JP" altLang="en-US" sz="1600" dirty="0"/>
              <a:t>）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8CD41E88-2161-B6B6-9D0A-5DDC9E8D6713}"/>
              </a:ext>
            </a:extLst>
          </p:cNvPr>
          <p:cNvSpPr txBox="1"/>
          <p:nvPr/>
        </p:nvSpPr>
        <p:spPr>
          <a:xfrm>
            <a:off x="7826702" y="2151109"/>
            <a:ext cx="43652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✅改善効果の見積り（投資判断、意思決定）</a:t>
            </a:r>
          </a:p>
        </p:txBody>
      </p:sp>
      <p:sp>
        <p:nvSpPr>
          <p:cNvPr id="76" name="矢印: 右 75">
            <a:extLst>
              <a:ext uri="{FF2B5EF4-FFF2-40B4-BE49-F238E27FC236}">
                <a16:creationId xmlns:a16="http://schemas.microsoft.com/office/drawing/2014/main" id="{C2B3185F-A0A0-8DA6-453B-02109D3FD2F8}"/>
              </a:ext>
            </a:extLst>
          </p:cNvPr>
          <p:cNvSpPr/>
          <p:nvPr/>
        </p:nvSpPr>
        <p:spPr>
          <a:xfrm>
            <a:off x="7145754" y="4196978"/>
            <a:ext cx="591812" cy="359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8BEA6D9A-6AE9-0529-595E-67919C3C44C6}"/>
              </a:ext>
            </a:extLst>
          </p:cNvPr>
          <p:cNvSpPr txBox="1"/>
          <p:nvPr/>
        </p:nvSpPr>
        <p:spPr>
          <a:xfrm>
            <a:off x="2724223" y="46206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因果探索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FC2B577-4E23-951D-2B77-B90B3FCA170A}"/>
              </a:ext>
            </a:extLst>
          </p:cNvPr>
          <p:cNvSpPr txBox="1"/>
          <p:nvPr/>
        </p:nvSpPr>
        <p:spPr>
          <a:xfrm>
            <a:off x="7118494" y="46612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介入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5A314D55-0D73-26B5-DE32-92910712BD36}"/>
              </a:ext>
            </a:extLst>
          </p:cNvPr>
          <p:cNvSpPr txBox="1"/>
          <p:nvPr/>
        </p:nvSpPr>
        <p:spPr>
          <a:xfrm>
            <a:off x="9500831" y="6218059"/>
            <a:ext cx="25924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シミュレーション入力で生成</a:t>
            </a:r>
            <a:r>
              <a:rPr lang="en-US" altLang="ja-JP" sz="1000" dirty="0"/>
              <a:t>AI</a:t>
            </a:r>
            <a:r>
              <a:rPr lang="ja-JP" altLang="en-US" sz="1000" dirty="0"/>
              <a:t>使う？</a:t>
            </a:r>
            <a:endParaRPr lang="en-US" altLang="ja-JP" sz="1000" dirty="0"/>
          </a:p>
        </p:txBody>
      </p:sp>
    </p:spTree>
    <p:extLst>
      <p:ext uri="{BB962C8B-B14F-4D97-AF65-F5344CB8AC3E}">
        <p14:creationId xmlns:p14="http://schemas.microsoft.com/office/powerpoint/2010/main" val="178515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44E9DB-F9D6-CE6B-EFDE-C98F28CB82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238C65F-F025-01FE-FCC3-1791A7FC86D4}"/>
              </a:ext>
            </a:extLst>
          </p:cNvPr>
          <p:cNvSpPr/>
          <p:nvPr/>
        </p:nvSpPr>
        <p:spPr>
          <a:xfrm>
            <a:off x="961437" y="1115469"/>
            <a:ext cx="943582" cy="5593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</a:rPr>
              <a:t>設備</a:t>
            </a:r>
            <a:r>
              <a:rPr kumimoji="1" lang="en-US" altLang="ja-JP" sz="1600" dirty="0">
                <a:solidFill>
                  <a:schemeClr val="accent1"/>
                </a:solidFill>
              </a:rPr>
              <a:t>A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B2EC0C0-2513-A943-5F2C-EE22A349B457}"/>
              </a:ext>
            </a:extLst>
          </p:cNvPr>
          <p:cNvSpPr/>
          <p:nvPr/>
        </p:nvSpPr>
        <p:spPr>
          <a:xfrm>
            <a:off x="2478082" y="1250288"/>
            <a:ext cx="943582" cy="5593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</a:rPr>
              <a:t>設備</a:t>
            </a:r>
            <a:r>
              <a:rPr kumimoji="1" lang="en-US" altLang="ja-JP" sz="1600" dirty="0">
                <a:solidFill>
                  <a:schemeClr val="accent1"/>
                </a:solidFill>
              </a:rPr>
              <a:t>B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D3A7CCC-874D-C0EF-DBD0-D98AEAB7837F}"/>
              </a:ext>
            </a:extLst>
          </p:cNvPr>
          <p:cNvSpPr/>
          <p:nvPr/>
        </p:nvSpPr>
        <p:spPr>
          <a:xfrm>
            <a:off x="499371" y="2115965"/>
            <a:ext cx="943582" cy="5593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</a:rPr>
              <a:t>設備</a:t>
            </a:r>
            <a:r>
              <a:rPr lang="en-US" altLang="ja-JP" sz="1600" dirty="0">
                <a:solidFill>
                  <a:schemeClr val="accent1"/>
                </a:solidFill>
              </a:rPr>
              <a:t>E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D1A92CD-03A5-56AE-CF82-D9CD3BC92723}"/>
              </a:ext>
            </a:extLst>
          </p:cNvPr>
          <p:cNvSpPr/>
          <p:nvPr/>
        </p:nvSpPr>
        <p:spPr>
          <a:xfrm>
            <a:off x="1926117" y="2208201"/>
            <a:ext cx="943582" cy="5593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</a:rPr>
              <a:t>設備</a:t>
            </a:r>
            <a:r>
              <a:rPr lang="en-US" altLang="ja-JP" sz="1600" dirty="0">
                <a:solidFill>
                  <a:schemeClr val="accent1"/>
                </a:solidFill>
              </a:rPr>
              <a:t>D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6CBBE60-404E-5B54-88DD-C2D4AE4BA148}"/>
              </a:ext>
            </a:extLst>
          </p:cNvPr>
          <p:cNvSpPr/>
          <p:nvPr/>
        </p:nvSpPr>
        <p:spPr>
          <a:xfrm>
            <a:off x="876377" y="3189849"/>
            <a:ext cx="943582" cy="5593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</a:rPr>
              <a:t>設備</a:t>
            </a:r>
            <a:r>
              <a:rPr lang="en-US" altLang="ja-JP" sz="1600" dirty="0">
                <a:solidFill>
                  <a:schemeClr val="accent1"/>
                </a:solidFill>
              </a:rPr>
              <a:t>C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BB9D1F1-6003-3898-CA96-73569ABF7013}"/>
              </a:ext>
            </a:extLst>
          </p:cNvPr>
          <p:cNvSpPr/>
          <p:nvPr/>
        </p:nvSpPr>
        <p:spPr>
          <a:xfrm>
            <a:off x="3133853" y="2623385"/>
            <a:ext cx="943582" cy="5593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</a:rPr>
              <a:t>設備</a:t>
            </a:r>
            <a:r>
              <a:rPr lang="en-US" altLang="ja-JP" sz="1600" dirty="0">
                <a:solidFill>
                  <a:schemeClr val="accent1"/>
                </a:solidFill>
              </a:rPr>
              <a:t>G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3A53FB9-F900-DFFF-3B13-0492F33D2DF7}"/>
              </a:ext>
            </a:extLst>
          </p:cNvPr>
          <p:cNvSpPr/>
          <p:nvPr/>
        </p:nvSpPr>
        <p:spPr>
          <a:xfrm>
            <a:off x="1492029" y="4063311"/>
            <a:ext cx="943582" cy="55933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accent1"/>
                </a:solidFill>
              </a:rPr>
              <a:t>完成数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65D3E15-66CD-846A-7199-8AC1E3EC25F2}"/>
              </a:ext>
            </a:extLst>
          </p:cNvPr>
          <p:cNvSpPr/>
          <p:nvPr/>
        </p:nvSpPr>
        <p:spPr>
          <a:xfrm>
            <a:off x="2579472" y="3396559"/>
            <a:ext cx="943582" cy="5593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accent1"/>
                </a:solidFill>
              </a:rPr>
              <a:t>設備</a:t>
            </a:r>
            <a:r>
              <a:rPr lang="en-US" altLang="ja-JP" sz="1600" dirty="0">
                <a:solidFill>
                  <a:schemeClr val="accent1"/>
                </a:solidFill>
              </a:rPr>
              <a:t>F</a:t>
            </a:r>
            <a:endParaRPr kumimoji="1" lang="ja-JP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1E1A6F9-6B96-038C-DEDF-92D03695422C}"/>
              </a:ext>
            </a:extLst>
          </p:cNvPr>
          <p:cNvCxnSpPr>
            <a:endCxn id="6" idx="0"/>
          </p:cNvCxnSpPr>
          <p:nvPr/>
        </p:nvCxnSpPr>
        <p:spPr>
          <a:xfrm flipH="1">
            <a:off x="971162" y="1674808"/>
            <a:ext cx="462066" cy="441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4592780-C9FE-BFAB-2496-523E9AC3EFA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971162" y="2675304"/>
            <a:ext cx="377006" cy="514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7A218AA-E01B-4865-CC8B-1B93E851C7DD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1348168" y="3749188"/>
            <a:ext cx="615652" cy="314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80BD486-F735-F931-C6BD-1EF15B6E708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397908" y="1809627"/>
            <a:ext cx="551965" cy="398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99DAF44-C69B-9DFF-9DB0-B9E6F41E5688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2397908" y="2767540"/>
            <a:ext cx="653355" cy="629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434520B-9DBE-FE7C-4278-FC4A9CDA0718}"/>
              </a:ext>
            </a:extLst>
          </p:cNvPr>
          <p:cNvCxnSpPr>
            <a:cxnSpLocks/>
            <a:stCxn id="11" idx="2"/>
            <a:endCxn id="10" idx="3"/>
          </p:cNvCxnSpPr>
          <p:nvPr/>
        </p:nvCxnSpPr>
        <p:spPr>
          <a:xfrm flipH="1">
            <a:off x="2435611" y="3955898"/>
            <a:ext cx="615652" cy="38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3DEA2B4-DE75-9AD8-85AB-9352F5C2C1BA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1819959" y="2903055"/>
            <a:ext cx="1313894" cy="566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73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05416B4-E295-46C5-A905-8BE9F00644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kumimoji="1" lang="ja-JP" altLang="en-US" dirty="0"/>
              <a:t>背景</a:t>
            </a:r>
            <a:endParaRPr lang="en-US" altLang="ja-JP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kumimoji="1" lang="ja-JP" altLang="en-US" b="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241C7A-A1BC-8359-F72D-58F588D416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ja-JP" altLang="en-US" dirty="0"/>
              <a:t>背景・取り組み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252F9-6C65-5740-8DF9-19357F983EB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  <p:pic>
        <p:nvPicPr>
          <p:cNvPr id="1026" name="Picture 2" descr="デジタルトランスフォーメーション(DX)への取り組み | 株式会社アイシン 公式企業サイト">
            <a:extLst>
              <a:ext uri="{FF2B5EF4-FFF2-40B4-BE49-F238E27FC236}">
                <a16:creationId xmlns:a16="http://schemas.microsoft.com/office/drawing/2014/main" id="{31CA291D-C047-A11C-6A96-8A97D39F9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989" y="1159063"/>
            <a:ext cx="4733071" cy="416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2B82DED-9E50-4570-125D-14A45FA7C852}"/>
              </a:ext>
            </a:extLst>
          </p:cNvPr>
          <p:cNvSpPr txBox="1"/>
          <p:nvPr/>
        </p:nvSpPr>
        <p:spPr>
          <a:xfrm>
            <a:off x="5493189" y="1225035"/>
            <a:ext cx="64434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ja-JP" b="1" dirty="0"/>
              <a:t>AI</a:t>
            </a:r>
            <a:r>
              <a:rPr lang="ja-JP" altLang="en-US" b="1" dirty="0"/>
              <a:t>センシング</a:t>
            </a:r>
            <a:r>
              <a:rPr lang="en-US" altLang="ja-JP" b="1" dirty="0"/>
              <a:t>1</a:t>
            </a:r>
            <a:r>
              <a:rPr lang="ja-JP" altLang="en-US" b="1" dirty="0"/>
              <a:t>室</a:t>
            </a:r>
            <a:endParaRPr lang="en-US" altLang="ja-JP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en-US" dirty="0"/>
              <a:t>工場</a:t>
            </a:r>
            <a:r>
              <a:rPr lang="en-US" altLang="ja-JP" dirty="0"/>
              <a:t>IoT</a:t>
            </a:r>
            <a:r>
              <a:rPr lang="ja-JP" altLang="en-US" dirty="0"/>
              <a:t>データを活用したソリューション開発を担当</a:t>
            </a:r>
            <a:endParaRPr lang="en-US" altLang="ja-JP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ja-JP" dirty="0"/>
              <a:t>ex</a:t>
            </a:r>
            <a:r>
              <a:rPr lang="ja-JP" altLang="en-US" dirty="0"/>
              <a:t>）設備の予兆検知、外観検査、ヒトの作業分析</a:t>
            </a:r>
            <a:endParaRPr lang="en-US" altLang="ja-JP" dirty="0"/>
          </a:p>
          <a:p>
            <a:pPr lvl="1"/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ja-JP" altLang="en-US" b="1" dirty="0"/>
              <a:t>現状</a:t>
            </a:r>
            <a:endParaRPr lang="en-US" altLang="ja-JP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en-US" dirty="0"/>
              <a:t>各工場のデータが蓄積されている（蓄積層、</a:t>
            </a:r>
            <a:r>
              <a:rPr lang="en-US" altLang="ja-JP" dirty="0"/>
              <a:t>IoTPF</a:t>
            </a:r>
            <a:r>
              <a:rPr lang="ja-JP" altLang="en-US" dirty="0"/>
              <a:t>）</a:t>
            </a:r>
            <a:endParaRPr lang="en-US" altLang="ja-JP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en-US" dirty="0"/>
              <a:t>生データが“置いてあるだけ”の状態</a:t>
            </a:r>
            <a:endParaRPr lang="en-US" altLang="ja-JP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en-US" dirty="0"/>
              <a:t>活用には、目的別の加工や紐づけが必要</a:t>
            </a:r>
            <a:endParaRPr lang="en-US" altLang="ja-JP" dirty="0"/>
          </a:p>
          <a:p>
            <a:pPr lvl="1"/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ja-JP" altLang="en-US" b="1" dirty="0"/>
              <a:t>問題</a:t>
            </a:r>
            <a:endParaRPr lang="en-US" altLang="ja-JP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en-US" dirty="0"/>
              <a:t>データ活用準備に時間がかかる</a:t>
            </a:r>
            <a:endParaRPr lang="en-US" altLang="ja-JP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各データのスキーマ把握が必要</a:t>
            </a:r>
            <a:endParaRPr lang="en-US" altLang="ja-JP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テーマごとに都度、加工プログラムを作成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ja-JP" altLang="en-US" b="1" dirty="0"/>
              <a:t>やりたいこと</a:t>
            </a:r>
            <a:endParaRPr lang="en-US" altLang="ja-JP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en-US" dirty="0"/>
              <a:t>データ加工紐づけ等を簡単にしたい</a:t>
            </a:r>
            <a:endParaRPr lang="en-US" altLang="ja-JP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ja-JP" altLang="en-US" dirty="0"/>
              <a:t>誰でも素早くデータを活用できる状態にしたい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6836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15E90D8-16E6-6FF1-2F3A-C7B81EC525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CA62EC-0B19-96C5-59E9-6954B91868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ja-JP" altLang="en-US" dirty="0"/>
              <a:t>利用イメージ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5985A1-313A-BFBA-8C7C-E2B5F4FD72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1, 2025</a:t>
            </a:fld>
            <a:endParaRPr lang="en-US" dirty="0"/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009BFE8B-7607-8F50-E16B-37EC27318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524327"/>
              </p:ext>
            </p:extLst>
          </p:nvPr>
        </p:nvGraphicFramePr>
        <p:xfrm>
          <a:off x="603560" y="2222431"/>
          <a:ext cx="1105627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599">
                  <a:extLst>
                    <a:ext uri="{9D8B030D-6E8A-4147-A177-3AD203B41FA5}">
                      <a16:colId xmlns:a16="http://schemas.microsoft.com/office/drawing/2014/main" val="3958467322"/>
                    </a:ext>
                  </a:extLst>
                </a:gridCol>
                <a:gridCol w="6765749">
                  <a:extLst>
                    <a:ext uri="{9D8B030D-6E8A-4147-A177-3AD203B41FA5}">
                      <a16:colId xmlns:a16="http://schemas.microsoft.com/office/drawing/2014/main" val="1078510324"/>
                    </a:ext>
                  </a:extLst>
                </a:gridCol>
                <a:gridCol w="3914928">
                  <a:extLst>
                    <a:ext uri="{9D8B030D-6E8A-4147-A177-3AD203B41FA5}">
                      <a16:colId xmlns:a16="http://schemas.microsoft.com/office/drawing/2014/main" val="1383588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#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やりたいこと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確認したいこと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21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15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Genie</a:t>
                      </a:r>
                      <a:r>
                        <a:rPr kumimoji="1" lang="ja-JP" altLang="en-US" dirty="0"/>
                        <a:t>を活用して、複数のテーブルの粒度整理・加工・統合を行う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データの加工紐づけを効率化できるか？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313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エージェント開発～デプロイ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比較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924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849666"/>
      </p:ext>
    </p:extLst>
  </p:cSld>
  <p:clrMapOvr>
    <a:masterClrMapping/>
  </p:clrMapOvr>
</p:sld>
</file>

<file path=ppt/theme/theme1.xml><?xml version="1.0" encoding="utf-8"?>
<a:theme xmlns:a="http://schemas.openxmlformats.org/drawingml/2006/main" name="アイシンwide">
  <a:themeElements>
    <a:clrScheme name="AISIN_210408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008CD2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アイシンwide" id="{9719132A-AE96-4650-9969-4ACCCCDBC9C1}" vid="{AC6CE65C-E27A-4279-9449-0AF11FFDAE82}"/>
    </a:ext>
  </a:extLst>
</a:theme>
</file>

<file path=ppt/theme/theme2.xml><?xml version="1.0" encoding="utf-8"?>
<a:theme xmlns:a="http://schemas.openxmlformats.org/drawingml/2006/main" name="最終頁">
  <a:themeElements>
    <a:clrScheme name="AISIN_210408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008CD2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SINフォーマット_wide.potx" id="{E6ED6B68-B8AB-4240-B5BF-953200F140CE}" vid="{8E07004A-0D74-49DA-BAAA-7DE141297473}"/>
    </a:ext>
  </a:extLst>
</a:theme>
</file>

<file path=ppt/theme/theme3.xml><?xml version="1.0" encoding="utf-8"?>
<a:theme xmlns:a="http://schemas.openxmlformats.org/drawingml/2006/main" name="内容">
  <a:themeElements>
    <a:clrScheme name="AISIN_210408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008CD2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SINフォーマット_wide.potx" id="{E6ED6B68-B8AB-4240-B5BF-953200F140CE}" vid="{4B783BF8-DEA1-4518-93B8-7E4A5AC19B3A}"/>
    </a:ext>
  </a:extLst>
</a:theme>
</file>

<file path=ppt/theme/theme4.xml><?xml version="1.0" encoding="utf-8"?>
<a:theme xmlns:a="http://schemas.openxmlformats.org/drawingml/2006/main" name="内容［関係社外秘］">
  <a:themeElements>
    <a:clrScheme name="AISIN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4BBCFF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(AISIN)_関係社外秘.pptx" id="{0E61A696-DCC7-41FA-B91C-DE2E6FD3D105}" vid="{88604F16-AB26-4E05-98EE-030EE2A46DF3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227479</TotalTime>
  <Words>473</Words>
  <Application>Microsoft Office PowerPoint</Application>
  <PresentationFormat>ワイド画面</PresentationFormat>
  <Paragraphs>99</Paragraphs>
  <Slides>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8</vt:i4>
      </vt:variant>
    </vt:vector>
  </HeadingPairs>
  <TitlesOfParts>
    <vt:vector size="17" baseType="lpstr">
      <vt:lpstr>メイリオ</vt:lpstr>
      <vt:lpstr>游ゴシック</vt:lpstr>
      <vt:lpstr>Arial</vt:lpstr>
      <vt:lpstr>Segoe UI</vt:lpstr>
      <vt:lpstr>Wingdings</vt:lpstr>
      <vt:lpstr>アイシンwide</vt:lpstr>
      <vt:lpstr>最終頁</vt:lpstr>
      <vt:lpstr>内容</vt:lpstr>
      <vt:lpstr>内容［関係社外秘］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アイシン精機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Toyomaru Koji／豊丸　弘爾／AI</dc:creator>
  <cp:lastModifiedBy>優樹 笹岡</cp:lastModifiedBy>
  <cp:revision>232</cp:revision>
  <dcterms:created xsi:type="dcterms:W3CDTF">2022-01-19T01:36:44Z</dcterms:created>
  <dcterms:modified xsi:type="dcterms:W3CDTF">2025-11-02T14:53:44Z</dcterms:modified>
</cp:coreProperties>
</file>