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70" r:id="rId2"/>
    <p:sldMasterId id="2147483672" r:id="rId3"/>
    <p:sldMasterId id="2147483677" r:id="rId4"/>
  </p:sldMasterIdLst>
  <p:notesMasterIdLst>
    <p:notesMasterId r:id="rId9"/>
  </p:notesMasterIdLst>
  <p:sldIdLst>
    <p:sldId id="261" r:id="rId5"/>
    <p:sldId id="262" r:id="rId6"/>
    <p:sldId id="263" r:id="rId7"/>
    <p:sldId id="264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9999"/>
    <a:srgbClr val="FFCCFF"/>
    <a:srgbClr val="FFCC99"/>
    <a:srgbClr val="EEE7E4"/>
    <a:srgbClr val="FFCCCC"/>
    <a:srgbClr val="CCFFCC"/>
    <a:srgbClr val="EFEBE7"/>
    <a:srgbClr val="99FFCC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14B3DE-25EF-4C28-B600-4661CE0287A6}" v="47" dt="2024-07-21T02:05:12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3901" autoAdjust="0"/>
  </p:normalViewPr>
  <p:slideViewPr>
    <p:cSldViewPr snapToGrid="0">
      <p:cViewPr varScale="1">
        <p:scale>
          <a:sx n="129" d="100"/>
          <a:sy n="129" d="100"/>
        </p:scale>
        <p:origin x="1528" y="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8A22A-E5D9-41D2-96B3-0C305ABBA05F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AF95DA-1DED-4351-A436-B02E859C15B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342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機密なし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4106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関係者外秘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28" y="0"/>
            <a:ext cx="9901772" cy="6858000"/>
          </a:xfrm>
          <a:prstGeom prst="rect">
            <a:avLst/>
          </a:prstGeom>
        </p:spPr>
      </p:pic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121885" y="581235"/>
            <a:ext cx="83221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部</a:t>
            </a:r>
          </a:p>
        </p:txBody>
      </p:sp>
      <p:sp>
        <p:nvSpPr>
          <p:cNvPr id="4" name="テキスト ボックス 3"/>
          <p:cNvSpPr txBox="1"/>
          <p:nvPr userDrawn="1"/>
        </p:nvSpPr>
        <p:spPr>
          <a:xfrm>
            <a:off x="11046532" y="442582"/>
            <a:ext cx="9428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800" b="1" dirty="0">
                <a:solidFill>
                  <a:srgbClr val="FF0000"/>
                </a:solidFill>
              </a:rPr>
              <a:t>DX</a:t>
            </a:r>
            <a:r>
              <a:rPr kumimoji="1" lang="ja-JP" altLang="en-US" sz="800" b="1" dirty="0">
                <a:solidFill>
                  <a:srgbClr val="FF0000"/>
                </a:solidFill>
              </a:rPr>
              <a:t>戦略センター</a:t>
            </a:r>
            <a:endParaRPr kumimoji="1" lang="en-US" altLang="ja-JP" sz="800" b="1" dirty="0">
              <a:solidFill>
                <a:srgbClr val="FF0000"/>
              </a:solidFill>
            </a:endParaRPr>
          </a:p>
          <a:p>
            <a:pPr algn="ctr"/>
            <a:r>
              <a:rPr kumimoji="1" lang="en-US" altLang="ja-JP" sz="800" b="1" dirty="0">
                <a:solidFill>
                  <a:srgbClr val="FF0000"/>
                </a:solidFill>
              </a:rPr>
              <a:t>DS</a:t>
            </a:r>
            <a:endParaRPr kumimoji="1" lang="ja-JP" altLang="en-US" sz="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434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秘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1171" y="0"/>
            <a:ext cx="9140829" cy="6858000"/>
          </a:xfrm>
          <a:prstGeom prst="rect">
            <a:avLst/>
          </a:prstGeom>
        </p:spPr>
      </p:pic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1121885" y="581235"/>
            <a:ext cx="83221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部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270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表紙［極秘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28" y="0"/>
            <a:ext cx="9901772" cy="6858000"/>
          </a:xfrm>
          <a:prstGeom prst="rect">
            <a:avLst/>
          </a:prstGeom>
        </p:spPr>
      </p:pic>
      <p:sp>
        <p:nvSpPr>
          <p:cNvPr id="13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540000" y="2360932"/>
            <a:ext cx="10198316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資料タイトル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14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540000" y="4732628"/>
            <a:ext cx="7829970" cy="144472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1" baseline="0">
                <a:solidFill>
                  <a:schemeClr val="bg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会社・部署名・発表者氏名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2" name="日付プレースホルダー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E5CE2423-1C35-4C12-BAEC-CBD3693D0CE2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0656939" y="730660"/>
            <a:ext cx="130663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年　　月　　日まで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1121885" y="581235"/>
            <a:ext cx="832218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sz="700" b="1" dirty="0">
                <a:solidFill>
                  <a:srgbClr val="D21E23"/>
                </a:solidFill>
              </a:rPr>
              <a:t>部</a:t>
            </a:r>
          </a:p>
        </p:txBody>
      </p:sp>
    </p:spTree>
    <p:extLst>
      <p:ext uri="{BB962C8B-B14F-4D97-AF65-F5344CB8AC3E}">
        <p14:creationId xmlns:p14="http://schemas.microsoft.com/office/powerpoint/2010/main" val="400703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最終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641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見出し1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767396"/>
            <a:ext cx="11341555" cy="5637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本文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21pt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443077" y="273600"/>
            <a:ext cx="11341555" cy="351353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 dirty="0"/>
              <a:t>ページ見出し メイリオ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8" name="日付プレースホルダー 3"/>
          <p:cNvSpPr>
            <a:spLocks noGrp="1"/>
          </p:cNvSpPr>
          <p:nvPr>
            <p:ph type="dt" sz="half" idx="19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16,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827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0036734-z100\Desktop\太向\プレゼンフォーマット\02_アイシングループロゴ\AISINGROUP_LOGODATA_201509\PNG\PNG_color\positive\AG_logo_variation1_color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85840" y="1"/>
            <a:ext cx="789435" cy="7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直線コネクタ 8"/>
          <p:cNvCxnSpPr/>
          <p:nvPr userDrawn="1"/>
        </p:nvCxnSpPr>
        <p:spPr>
          <a:xfrm>
            <a:off x="0" y="686831"/>
            <a:ext cx="1219200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326431" y="188641"/>
            <a:ext cx="4288353" cy="461665"/>
          </a:xfrm>
          <a:prstGeom prst="rect">
            <a:avLst/>
          </a:prstGeom>
        </p:spPr>
        <p:txBody>
          <a:bodyPr wrap="none">
            <a:spAutoFit/>
          </a:bodyPr>
          <a:lstStyle>
            <a:lvl1pPr algn="l">
              <a:defRPr sz="24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1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11466103" y="6519532"/>
            <a:ext cx="399468" cy="246221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</a:lstStyle>
          <a:p>
            <a:fld id="{65AE6374-B558-476C-B6C5-10222A839C1D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02804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/>
          <p:cNvSpPr txBox="1"/>
          <p:nvPr/>
        </p:nvSpPr>
        <p:spPr>
          <a:xfrm>
            <a:off x="443077" y="306000"/>
            <a:ext cx="11302892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400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CONTENTS</a:t>
            </a:r>
            <a:endParaRPr kumimoji="1" lang="ja-JP" altLang="en-US" sz="2400" b="1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7" name="テキスト プレースホルダー 2">
            <a:extLst>
              <a:ext uri="{FF2B5EF4-FFF2-40B4-BE49-F238E27FC236}">
                <a16:creationId xmlns:a16="http://schemas.microsoft.com/office/drawing/2014/main" id="{8D423200-9DDA-EB45-B4AE-06A422E698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6842" y="1080000"/>
            <a:ext cx="10198316" cy="500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 baseline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en-US" altLang="ja-JP" dirty="0"/>
              <a:t>1</a:t>
            </a:r>
            <a:r>
              <a:rPr kumimoji="1" lang="ja-JP" altLang="en-US" dirty="0"/>
              <a:t>　項目タイトル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28pt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16,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1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9" hasCustomPrompt="1"/>
          </p:nvPr>
        </p:nvSpPr>
        <p:spPr>
          <a:xfrm>
            <a:off x="442339" y="2303884"/>
            <a:ext cx="11307323" cy="208823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600" b="1" baseline="0">
                <a:solidFill>
                  <a:schemeClr val="tx2"/>
                </a:solidFill>
                <a:effectLst/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項目タイトル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36pt</a:t>
            </a:r>
          </a:p>
        </p:txBody>
      </p:sp>
      <p:sp>
        <p:nvSpPr>
          <p:cNvPr id="5" name="日付プレースホルダー 3"/>
          <p:cNvSpPr>
            <a:spLocks noGrp="1"/>
          </p:cNvSpPr>
          <p:nvPr>
            <p:ph type="dt" sz="half" idx="20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16,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2626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見出し1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2"/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767396"/>
            <a:ext cx="11341555" cy="5637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本文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21pt</a:t>
            </a:r>
            <a:endParaRPr kumimoji="1" lang="ja-JP" altLang="en-US" dirty="0"/>
          </a:p>
        </p:txBody>
      </p:sp>
      <p:sp>
        <p:nvSpPr>
          <p:cNvPr id="6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443077" y="273600"/>
            <a:ext cx="11341555" cy="351353"/>
          </a:xfrm>
          <a:prstGeom prst="rect">
            <a:avLst/>
          </a:prstGeom>
        </p:spPr>
        <p:txBody>
          <a:bodyPr/>
          <a:lstStyle>
            <a:lvl1pPr indent="0">
              <a:spcBef>
                <a:spcPts val="0"/>
              </a:spcBef>
              <a:defRPr sz="240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 dirty="0"/>
              <a:t>ページ見出し メイリオ</a:t>
            </a:r>
            <a:r>
              <a:rPr kumimoji="1" lang="en-US" altLang="ja-JP" dirty="0"/>
              <a:t>24pt</a:t>
            </a:r>
            <a:endParaRPr kumimoji="1" lang="ja-JP" altLang="en-US" dirty="0"/>
          </a:p>
        </p:txBody>
      </p:sp>
      <p:sp>
        <p:nvSpPr>
          <p:cNvPr id="8" name="日付プレースホルダー 3"/>
          <p:cNvSpPr>
            <a:spLocks noGrp="1"/>
          </p:cNvSpPr>
          <p:nvPr>
            <p:ph type="dt" sz="half" idx="19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16,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820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見出し2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5"/>
          <p:cNvSpPr>
            <a:spLocks noGrp="1"/>
          </p:cNvSpPr>
          <p:nvPr>
            <p:ph type="body" sz="quarter" idx="20" hasCustomPrompt="1"/>
          </p:nvPr>
        </p:nvSpPr>
        <p:spPr>
          <a:xfrm>
            <a:off x="443077" y="273600"/>
            <a:ext cx="11341555" cy="77913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>
                <a:solidFill>
                  <a:schemeClr val="tx2"/>
                </a:solidFill>
              </a:defRPr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kumimoji="1" lang="ja-JP" altLang="en-US" dirty="0"/>
              <a:t>ページ見出し </a:t>
            </a:r>
            <a:r>
              <a:rPr kumimoji="1" lang="en-US" altLang="ja-JP" dirty="0"/>
              <a:t>2</a:t>
            </a:r>
            <a:r>
              <a:rPr kumimoji="1" lang="ja-JP" altLang="en-US" dirty="0"/>
              <a:t>行 メイリオ</a:t>
            </a:r>
            <a:r>
              <a:rPr kumimoji="1" lang="en-US" altLang="ja-JP" dirty="0"/>
              <a:t>24pt</a:t>
            </a: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D36865C0-32FD-6041-BDCE-3C31AE2B383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3078" y="1232736"/>
            <a:ext cx="11341554" cy="51716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21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 dirty="0"/>
              <a:t>本文</a:t>
            </a:r>
            <a:r>
              <a:rPr kumimoji="1" lang="en-US" altLang="ja-JP" dirty="0"/>
              <a:t> </a:t>
            </a:r>
            <a:r>
              <a:rPr kumimoji="1" lang="ja-JP" altLang="en-US" dirty="0"/>
              <a:t>メイリオ</a:t>
            </a:r>
            <a:r>
              <a:rPr kumimoji="1" lang="en-US" altLang="ja-JP" dirty="0"/>
              <a:t>21pt</a:t>
            </a:r>
            <a:endParaRPr kumimoji="1" lang="ja-JP" altLang="en-US" dirty="0"/>
          </a:p>
        </p:txBody>
      </p:sp>
      <p:sp>
        <p:nvSpPr>
          <p:cNvPr id="6" name="日付プレースホルダー 3"/>
          <p:cNvSpPr>
            <a:spLocks noGrp="1"/>
          </p:cNvSpPr>
          <p:nvPr>
            <p:ph type="dt" sz="half" idx="19"/>
          </p:nvPr>
        </p:nvSpPr>
        <p:spPr>
          <a:xfrm>
            <a:off x="6962400" y="6668516"/>
            <a:ext cx="2228850" cy="129789"/>
          </a:xfrm>
        </p:spPr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16,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38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8E4C2EF-773D-B34F-B303-741257996BEA}"/>
              </a:ext>
            </a:extLst>
          </p:cNvPr>
          <p:cNvSpPr txBox="1"/>
          <p:nvPr userDrawn="1"/>
        </p:nvSpPr>
        <p:spPr>
          <a:xfrm>
            <a:off x="443077" y="306000"/>
            <a:ext cx="1130289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000" b="1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CONTENTS</a:t>
            </a:r>
            <a:endParaRPr kumimoji="1" lang="ja-JP" altLang="en-US" sz="2000" b="1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CAA40E23-9A1E-0940-A59B-09CD3AAE87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96842" y="1080000"/>
            <a:ext cx="10198316" cy="5004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baseline="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en-US" altLang="ja-JP"/>
              <a:t>1</a:t>
            </a:r>
            <a:r>
              <a:rPr kumimoji="1" lang="ja-JP" altLang="en-US"/>
              <a:t>　項目タイトル</a:t>
            </a:r>
            <a:r>
              <a:rPr kumimoji="1" lang="en-US" altLang="ja-JP"/>
              <a:t> </a:t>
            </a:r>
            <a:r>
              <a:rPr kumimoji="1" lang="ja-JP" altLang="en-US"/>
              <a:t>メイリオ</a:t>
            </a:r>
            <a:r>
              <a:rPr kumimoji="1" lang="en-US" altLang="ja-JP"/>
              <a:t>24pt</a:t>
            </a:r>
          </a:p>
        </p:txBody>
      </p:sp>
    </p:spTree>
    <p:extLst>
      <p:ext uri="{BB962C8B-B14F-4D97-AF65-F5344CB8AC3E}">
        <p14:creationId xmlns:p14="http://schemas.microsoft.com/office/powerpoint/2010/main" val="15564849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テキスト プレースホルダー 2">
            <a:extLst>
              <a:ext uri="{FF2B5EF4-FFF2-40B4-BE49-F238E27FC236}">
                <a16:creationId xmlns:a16="http://schemas.microsoft.com/office/drawing/2014/main" id="{875E482E-9BA5-584D-A377-01176B0576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2520001"/>
            <a:ext cx="11307323" cy="1655999"/>
          </a:xfrm>
          <a:prstGeom prst="rect">
            <a:avLst/>
          </a:prstGeom>
          <a:noFill/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項目タイトル</a:t>
            </a:r>
            <a:r>
              <a:rPr kumimoji="1" lang="en-US" altLang="ja-JP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メイリオ</a:t>
            </a:r>
            <a:r>
              <a:rPr kumimoji="1" lang="en-US" altLang="ja-JP" sz="3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30pt</a:t>
            </a:r>
            <a:endParaRPr kumimoji="1" lang="ja-JP" altLang="en-US" sz="3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5727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1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テキスト プレースホルダー 2">
            <a:extLst>
              <a:ext uri="{FF2B5EF4-FFF2-40B4-BE49-F238E27FC236}">
                <a16:creationId xmlns:a16="http://schemas.microsoft.com/office/drawing/2014/main" id="{3E2ADED7-0ED2-7C47-B4C0-1E5C776280C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3077" y="767396"/>
            <a:ext cx="11307323" cy="56376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本文</a:t>
            </a:r>
            <a:r>
              <a:rPr kumimoji="1" lang="en-US" altLang="ja-JP"/>
              <a:t> </a:t>
            </a:r>
            <a:r>
              <a:rPr kumimoji="1" lang="ja-JP" altLang="en-US"/>
              <a:t>メイリオ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21" name="テキスト プレースホルダー 2">
            <a:extLst>
              <a:ext uri="{FF2B5EF4-FFF2-40B4-BE49-F238E27FC236}">
                <a16:creationId xmlns:a16="http://schemas.microsoft.com/office/drawing/2014/main" id="{015466B9-7F06-204A-B53C-64E4557C25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077" y="306000"/>
            <a:ext cx="11307323" cy="306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ページ見出し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メイリオ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20pt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1023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見出し2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テキスト プレースホルダー 2">
            <a:extLst>
              <a:ext uri="{FF2B5EF4-FFF2-40B4-BE49-F238E27FC236}">
                <a16:creationId xmlns:a16="http://schemas.microsoft.com/office/drawing/2014/main" id="{C9A4CBBA-B6A9-0844-B2B8-6153993E556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40" y="1098000"/>
            <a:ext cx="11307323" cy="53064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None/>
              <a:defRPr sz="1800" b="1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lvl="0"/>
            <a:r>
              <a:rPr kumimoji="1" lang="ja-JP" altLang="en-US"/>
              <a:t>本文</a:t>
            </a:r>
            <a:r>
              <a:rPr kumimoji="1" lang="en-US" altLang="ja-JP"/>
              <a:t> </a:t>
            </a:r>
            <a:r>
              <a:rPr kumimoji="1" lang="ja-JP" altLang="en-US"/>
              <a:t>メイリオ</a:t>
            </a:r>
            <a:r>
              <a:rPr kumimoji="1" lang="en-US" altLang="ja-JP"/>
              <a:t>18pt</a:t>
            </a:r>
            <a:endParaRPr kumimoji="1" lang="ja-JP" altLang="en-US"/>
          </a:p>
        </p:txBody>
      </p:sp>
      <p:sp>
        <p:nvSpPr>
          <p:cNvPr id="24" name="テキスト プレースホルダー 2">
            <a:extLst>
              <a:ext uri="{FF2B5EF4-FFF2-40B4-BE49-F238E27FC236}">
                <a16:creationId xmlns:a16="http://schemas.microsoft.com/office/drawing/2014/main" id="{0A92448B-A105-7F45-A55A-04ED997A09C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3077" y="306000"/>
            <a:ext cx="11307323" cy="612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defRPr>
            </a:lvl1pPr>
            <a:lvl2pPr marL="457200" indent="0">
              <a:spcBef>
                <a:spcPts val="500"/>
              </a:spcBef>
              <a:buNone/>
              <a:defRPr sz="16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2pPr>
            <a:lvl3pPr marL="914400" indent="0">
              <a:spcBef>
                <a:spcPts val="500"/>
              </a:spcBef>
              <a:buNone/>
              <a:defRPr sz="12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3pPr>
            <a:lvl4pPr marL="1371600" indent="0">
              <a:spcBef>
                <a:spcPts val="500"/>
              </a:spcBef>
              <a:buNone/>
              <a:defRPr sz="105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4pPr>
            <a:lvl5pPr marL="1828800" indent="0">
              <a:spcBef>
                <a:spcPts val="500"/>
              </a:spcBef>
              <a:buNone/>
              <a:defRPr sz="900">
                <a:latin typeface="メイリオ" panose="020B0604030504040204" pitchFamily="50" charset="-128"/>
                <a:ea typeface="メイリオ" panose="020B0604030504040204" pitchFamily="50" charset="-128"/>
                <a:cs typeface="メイリオ" panose="020B0604030504040204" pitchFamily="50" charset="-128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ページ見出し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2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行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 </a:t>
            </a:r>
            <a:r>
              <a:rPr kumimoji="1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メイリオ</a:t>
            </a:r>
            <a:r>
              <a:rPr kumimoji="1" lang="en-US" altLang="ja-JP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rPr>
              <a:t>20pt</a:t>
            </a:r>
            <a:endParaRPr kumimoji="1" lang="ja-JP" altLang="en-US" sz="2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203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.pn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1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" name="図 30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" y="0"/>
            <a:ext cx="12190839" cy="6858000"/>
          </a:xfrm>
          <a:prstGeom prst="rect">
            <a:avLst/>
          </a:prstGeom>
        </p:spPr>
      </p:pic>
      <p:sp>
        <p:nvSpPr>
          <p:cNvPr id="23" name="コンテンツ プレースホルダー 6">
            <a:extLst>
              <a:ext uri="{FF2B5EF4-FFF2-40B4-BE49-F238E27FC236}">
                <a16:creationId xmlns:a16="http://schemas.microsoft.com/office/drawing/2014/main" id="{3B2F5581-4034-DA46-842F-58D9CD0C1C39}"/>
              </a:ext>
            </a:extLst>
          </p:cNvPr>
          <p:cNvSpPr txBox="1">
            <a:spLocks/>
          </p:cNvSpPr>
          <p:nvPr/>
        </p:nvSpPr>
        <p:spPr>
          <a:xfrm>
            <a:off x="8802000" y="6681600"/>
            <a:ext cx="3240000" cy="1080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11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ja-JP" sz="8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/ © AISIN CORPORATION All Rights Reserved.</a:t>
            </a:r>
            <a:endParaRPr lang="ja-JP" altLang="en-US" sz="85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7689600" y="6671691"/>
            <a:ext cx="2228850" cy="129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1" lang="ja-JP" altLang="en-US" sz="850" kern="1200" baseline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fld id="{E5CE2423-1C35-4C12-BAEC-CBD3693D0CE2}" type="datetimeFigureOut">
              <a:rPr kumimoji="1" lang="ja-JP" altLang="en-US" smtClean="0"/>
              <a:t>2025/11/16</a:t>
            </a:fld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751216" y="527"/>
            <a:ext cx="375608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31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2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/>
        </p:nvSpPr>
        <p:spPr>
          <a:xfrm>
            <a:off x="-751216" y="546705"/>
            <a:ext cx="375608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70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/>
        </p:nvSpPr>
        <p:spPr>
          <a:xfrm>
            <a:off x="-751216" y="1092883"/>
            <a:ext cx="375608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09288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1639061"/>
            <a:ext cx="375608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63906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369951"/>
            <a:ext cx="375608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36995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382377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3823773"/>
            <a:ext cx="375608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2731417"/>
            <a:ext cx="375608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2731417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3277595"/>
            <a:ext cx="375608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3277595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5462307"/>
            <a:ext cx="375608" cy="2899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230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R153 G153 B153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91612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R102 G102 B102</a:t>
            </a: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916129"/>
            <a:ext cx="375608" cy="289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554662"/>
            <a:ext cx="375608" cy="2899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554662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R235 G235 B235</a:t>
            </a: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00848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R204 G204 B204</a:t>
            </a: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008485"/>
            <a:ext cx="375608" cy="289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2185239"/>
            <a:ext cx="375608" cy="289920"/>
          </a:xfrm>
          <a:prstGeom prst="rect">
            <a:avLst/>
          </a:prstGeom>
          <a:solidFill>
            <a:srgbClr val="DEE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218523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12.5%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R222 G225 B237</a:t>
            </a:r>
          </a:p>
        </p:txBody>
      </p:sp>
    </p:spTree>
    <p:extLst>
      <p:ext uri="{BB962C8B-B14F-4D97-AF65-F5344CB8AC3E}">
        <p14:creationId xmlns:p14="http://schemas.microsoft.com/office/powerpoint/2010/main" val="3982150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6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12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kumimoji="1" sz="105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8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»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751216" y="527"/>
            <a:ext cx="375608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31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2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/>
        </p:nvSpPr>
        <p:spPr>
          <a:xfrm>
            <a:off x="-751216" y="546705"/>
            <a:ext cx="375608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70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/>
        </p:nvSpPr>
        <p:spPr>
          <a:xfrm>
            <a:off x="-751216" y="1092883"/>
            <a:ext cx="375608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09288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1639061"/>
            <a:ext cx="375608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63906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369951"/>
            <a:ext cx="375608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36995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382377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3823773"/>
            <a:ext cx="375608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2731417"/>
            <a:ext cx="375608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2731417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3277595"/>
            <a:ext cx="375608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3277595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5462307"/>
            <a:ext cx="375608" cy="2899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230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R153 G153 B153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91612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R102 G102 B102</a:t>
            </a: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916129"/>
            <a:ext cx="375608" cy="289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554662"/>
            <a:ext cx="375608" cy="2899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554662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R235 G235 B235</a:t>
            </a: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00848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R204 G204 B204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008485"/>
            <a:ext cx="375608" cy="289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2185239"/>
            <a:ext cx="375608" cy="289920"/>
          </a:xfrm>
          <a:prstGeom prst="rect">
            <a:avLst/>
          </a:prstGeom>
          <a:solidFill>
            <a:srgbClr val="DEE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218523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12.5%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R222 G225 B237</a:t>
            </a:r>
          </a:p>
        </p:txBody>
      </p:sp>
      <p:pic>
        <p:nvPicPr>
          <p:cNvPr id="28" name="図 2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" y="0"/>
            <a:ext cx="121908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07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83" r:id="rId2"/>
    <p:sldLayoutId id="2147483686" r:id="rId3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6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12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kumimoji="1" sz="105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8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»"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96818"/>
            <a:ext cx="12192000" cy="261182"/>
          </a:xfrm>
          <a:prstGeom prst="rect">
            <a:avLst/>
          </a:prstGeom>
        </p:spPr>
      </p:pic>
      <p:sp>
        <p:nvSpPr>
          <p:cNvPr id="23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962400" y="6668516"/>
            <a:ext cx="2228850" cy="129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r" defTabSz="914400" rtl="0" eaLnBrk="1" latinLnBrk="0" hangingPunct="1">
              <a:defRPr kumimoji="1" lang="ja-JP" altLang="en-US" sz="850" kern="1200" baseline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fld id="{FCAFAC13-DB77-42F2-BE26-45BA5532FD50}" type="datetime4">
              <a:rPr lang="en-US" altLang="ja-JP" smtClean="0"/>
              <a:pPr/>
              <a:t>November 16, 2025</a:t>
            </a:fld>
            <a:endParaRPr lang="en-US" dirty="0"/>
          </a:p>
        </p:txBody>
      </p:sp>
      <p:sp>
        <p:nvSpPr>
          <p:cNvPr id="24" name="コンテンツ プレースホルダー 6">
            <a:extLst>
              <a:ext uri="{FF2B5EF4-FFF2-40B4-BE49-F238E27FC236}">
                <a16:creationId xmlns:a16="http://schemas.microsoft.com/office/drawing/2014/main" id="{3B2F5581-4034-DA46-842F-58D9CD0C1C39}"/>
              </a:ext>
            </a:extLst>
          </p:cNvPr>
          <p:cNvSpPr txBox="1">
            <a:spLocks/>
          </p:cNvSpPr>
          <p:nvPr/>
        </p:nvSpPr>
        <p:spPr>
          <a:xfrm>
            <a:off x="8092800" y="6681600"/>
            <a:ext cx="3240000" cy="1080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11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altLang="ja-JP" sz="85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 © AISIN CORPORATION All Rights Reserved.</a:t>
            </a:r>
            <a:endParaRPr lang="ja-JP" altLang="en-US" sz="85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スライド番号プレースホルダー 1"/>
          <p:cNvSpPr txBox="1">
            <a:spLocks/>
          </p:cNvSpPr>
          <p:nvPr/>
        </p:nvSpPr>
        <p:spPr>
          <a:xfrm>
            <a:off x="11131200" y="6645303"/>
            <a:ext cx="809560" cy="1739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ja-JP"/>
            </a:defPPr>
            <a:lvl1pPr marL="0" algn="r" defTabSz="914400" rtl="0" eaLnBrk="1" latinLnBrk="0" hangingPunct="1">
              <a:defRPr kumimoji="1" lang="ja-JP" altLang="en-US" sz="1300" kern="120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9ED8002-315A-4F99-B394-092101E2DCBD}" type="slidenum">
              <a:rPr lang="en-US" altLang="ja-JP" smtClean="0"/>
              <a:pPr/>
              <a:t>‹#›</a:t>
            </a:fld>
            <a:r>
              <a:rPr lang="en-US" altLang="ja-JP" dirty="0"/>
              <a:t>/*0</a:t>
            </a:r>
            <a:endParaRPr lang="en-US" dirty="0"/>
          </a:p>
        </p:txBody>
      </p:sp>
      <p:sp>
        <p:nvSpPr>
          <p:cNvPr id="67" name="正方形/長方形 6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751216" y="527"/>
            <a:ext cx="375608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831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68" name="正方形/長方形 6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2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69" name="正方形/長方形 68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/>
        </p:nvSpPr>
        <p:spPr>
          <a:xfrm>
            <a:off x="-751216" y="546705"/>
            <a:ext cx="375608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0" name="正方形/長方形 6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70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/>
        </p:nvSpPr>
        <p:spPr>
          <a:xfrm>
            <a:off x="-751216" y="1092883"/>
            <a:ext cx="375608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2" name="正方形/長方形 7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09288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1639061"/>
            <a:ext cx="375608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163906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369951"/>
            <a:ext cx="375608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369951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3823773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3823773"/>
            <a:ext cx="375608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2731417"/>
            <a:ext cx="375608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2731417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/>
        </p:nvSpPr>
        <p:spPr>
          <a:xfrm>
            <a:off x="-751216" y="3277595"/>
            <a:ext cx="375608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807518" y="3277595"/>
            <a:ext cx="1097049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646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738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5462307"/>
            <a:ext cx="375608" cy="28992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5462307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50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R153 G153 B153</a:t>
            </a:r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491612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75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R102 G102 B102</a:t>
            </a:r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4916129"/>
            <a:ext cx="375608" cy="28992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正方形/長方形 86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554662"/>
            <a:ext cx="375608" cy="289920"/>
          </a:xfrm>
          <a:prstGeom prst="rect">
            <a:avLst/>
          </a:prstGeom>
          <a:solidFill>
            <a:srgbClr val="EBEB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554662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10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R235 G235 B235</a:t>
            </a: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6008485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25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％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738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R204 G204 B204</a:t>
            </a:r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/>
        </p:nvSpPr>
        <p:spPr>
          <a:xfrm>
            <a:off x="-751216" y="6008485"/>
            <a:ext cx="375608" cy="2899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/>
        </p:nvSpPr>
        <p:spPr>
          <a:xfrm>
            <a:off x="-751216" y="2185239"/>
            <a:ext cx="375608" cy="289920"/>
          </a:xfrm>
          <a:prstGeom prst="rect">
            <a:avLst/>
          </a:prstGeom>
          <a:solidFill>
            <a:srgbClr val="DEE1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108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/>
        </p:nvSpPr>
        <p:spPr>
          <a:xfrm>
            <a:off x="-1766771" y="2185239"/>
            <a:ext cx="1056302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646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738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12.5%</a:t>
            </a:r>
          </a:p>
          <a:p>
            <a:pPr marL="0" marR="0" lvl="0" indent="0" algn="r" defTabSz="8440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738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R222 G225 B237</a:t>
            </a:r>
          </a:p>
        </p:txBody>
      </p:sp>
    </p:spTree>
    <p:extLst>
      <p:ext uri="{BB962C8B-B14F-4D97-AF65-F5344CB8AC3E}">
        <p14:creationId xmlns:p14="http://schemas.microsoft.com/office/powerpoint/2010/main" val="812495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8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–"/>
        <a:tabLst/>
        <a:defRPr kumimoji="1" sz="12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•"/>
        <a:tabLst/>
        <a:defRPr kumimoji="1" sz="105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936000" marR="0" indent="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Char char="»"/>
        <a:tabLst/>
        <a:defRPr kumimoji="1" sz="900" b="1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1AE3FCF5-2596-A246-B660-4FEF458907DD}"/>
              </a:ext>
            </a:extLst>
          </p:cNvPr>
          <p:cNvPicPr>
            <a:picLocks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53292" y="6601968"/>
            <a:ext cx="11738708" cy="256032"/>
          </a:xfrm>
          <a:prstGeom prst="rect">
            <a:avLst/>
          </a:prstGeom>
        </p:spPr>
      </p:pic>
      <p:sp>
        <p:nvSpPr>
          <p:cNvPr id="8" name="テキスト ボックス 7"/>
          <p:cNvSpPr txBox="1"/>
          <p:nvPr userDrawn="1"/>
        </p:nvSpPr>
        <p:spPr>
          <a:xfrm>
            <a:off x="4873846" y="6696000"/>
            <a:ext cx="1063385" cy="108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kumimoji="1" lang="en-US" altLang="ja-JP" sz="700" b="1" dirty="0">
                <a:solidFill>
                  <a:schemeClr val="bg1"/>
                </a:solidFill>
              </a:rPr>
              <a:t>DS</a:t>
            </a:r>
            <a:r>
              <a:rPr kumimoji="1" lang="ja-JP" altLang="en-US" sz="700" b="1" dirty="0">
                <a:solidFill>
                  <a:schemeClr val="bg1"/>
                </a:solidFill>
              </a:rPr>
              <a:t>部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7DD5FFD-127C-DD47-9BF7-CB6A75491278}"/>
              </a:ext>
            </a:extLst>
          </p:cNvPr>
          <p:cNvSpPr txBox="1"/>
          <p:nvPr userDrawn="1"/>
        </p:nvSpPr>
        <p:spPr>
          <a:xfrm>
            <a:off x="11569100" y="6612745"/>
            <a:ext cx="527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fld id="{DD04DF85-ADCB-4E8A-A23F-C9CEF091EC87}" type="slidenum">
              <a:rPr lang="ja-JP" altLang="en-US" sz="1000" smtClean="0">
                <a:solidFill>
                  <a:schemeClr val="bg1"/>
                </a:solidFill>
                <a:latin typeface="Segoe UI" panose="020B0502040204020203" pitchFamily="34" charset="0"/>
                <a:ea typeface="メイリオ" panose="020B0604030504040204" pitchFamily="50" charset="-128"/>
                <a:cs typeface="Segoe UI" panose="020B0502040204020203" pitchFamily="34" charset="0"/>
              </a:rPr>
              <a:pPr algn="r"/>
              <a:t>‹#›</a:t>
            </a:fld>
            <a:r>
              <a:rPr lang="en-US" altLang="ja-JP" sz="1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/00</a:t>
            </a:r>
            <a:endParaRPr lang="ja-JP" altLang="en-US" sz="10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コンテンツ プレースホルダー 6">
            <a:extLst>
              <a:ext uri="{FF2B5EF4-FFF2-40B4-BE49-F238E27FC236}">
                <a16:creationId xmlns:a16="http://schemas.microsoft.com/office/drawing/2014/main" id="{E47FB8F7-E074-7A44-87D1-3AC4F6A817DA}"/>
              </a:ext>
            </a:extLst>
          </p:cNvPr>
          <p:cNvSpPr txBox="1">
            <a:spLocks/>
          </p:cNvSpPr>
          <p:nvPr userDrawn="1"/>
        </p:nvSpPr>
        <p:spPr>
          <a:xfrm>
            <a:off x="7443692" y="6681600"/>
            <a:ext cx="3987692" cy="108000"/>
          </a:xfrm>
          <a:prstGeom prst="rect">
            <a:avLst/>
          </a:prstGeom>
        </p:spPr>
        <p:txBody>
          <a:bodyPr lIns="0" tIns="0" rIns="0" bIns="0"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kumimoji="1" sz="1100" kern="1200" baseline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Jan. 0</a:t>
            </a:r>
            <a:r>
              <a:rPr lang="en-US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0</a:t>
            </a:r>
            <a:r>
              <a:rPr lang="en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  <a:r>
              <a:rPr lang="en-US" altLang="ja-JP" sz="7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2021 / © AISIN CORPORATION All Rights Reserved.</a:t>
            </a:r>
            <a:endParaRPr lang="ja-JP" altLang="en-US" sz="7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1085090" y="527"/>
            <a:ext cx="542545" cy="289920"/>
          </a:xfrm>
          <a:prstGeom prst="rect">
            <a:avLst/>
          </a:prstGeom>
          <a:solidFill>
            <a:srgbClr val="001A7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900" b="0" i="0" u="none" strike="noStrike" kern="1200" cap="none" spc="0" normalizeH="0" baseline="0" noProof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52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100%</a:t>
            </a: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G26 B114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726849EE-6865-1F4E-B2B0-B61D15B6EC0D}"/>
              </a:ext>
            </a:extLst>
          </p:cNvPr>
          <p:cNvSpPr/>
          <p:nvPr userDrawn="1"/>
        </p:nvSpPr>
        <p:spPr>
          <a:xfrm>
            <a:off x="-1085090" y="549207"/>
            <a:ext cx="542545" cy="289920"/>
          </a:xfrm>
          <a:prstGeom prst="rect">
            <a:avLst/>
          </a:prstGeom>
          <a:solidFill>
            <a:srgbClr val="4053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54920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75%</a:t>
            </a: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R64 G83 B149</a:t>
            </a:r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8C117A6-C546-0C42-99EF-0376AB21CB8A}"/>
              </a:ext>
            </a:extLst>
          </p:cNvPr>
          <p:cNvSpPr/>
          <p:nvPr userDrawn="1"/>
        </p:nvSpPr>
        <p:spPr>
          <a:xfrm>
            <a:off x="-1085090" y="1097887"/>
            <a:ext cx="542545" cy="289920"/>
          </a:xfrm>
          <a:prstGeom prst="rect">
            <a:avLst/>
          </a:prstGeom>
          <a:solidFill>
            <a:srgbClr val="808C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109788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50%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R128 G140 B184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DC31C3B1-5ED5-CC45-8D42-9AC157BF190D}"/>
              </a:ext>
            </a:extLst>
          </p:cNvPr>
          <p:cNvSpPr/>
          <p:nvPr userDrawn="1"/>
        </p:nvSpPr>
        <p:spPr>
          <a:xfrm>
            <a:off x="-1085090" y="1646567"/>
            <a:ext cx="542545" cy="289920"/>
          </a:xfrm>
          <a:prstGeom prst="rect">
            <a:avLst/>
          </a:prstGeom>
          <a:solidFill>
            <a:srgbClr val="BFC6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61931" y="1646567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AI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色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/ 25%</a:t>
            </a:r>
          </a:p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R191 G198 B220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 userDrawn="1"/>
        </p:nvSpPr>
        <p:spPr>
          <a:xfrm>
            <a:off x="-1085090" y="3861363"/>
            <a:ext cx="542545" cy="2899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610860" y="3861363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ブラック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R0 G0 B0</a:t>
            </a:r>
          </a:p>
        </p:txBody>
      </p:sp>
      <p:sp>
        <p:nvSpPr>
          <p:cNvPr id="48" name="正方形/長方形 47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552004" y="3308012"/>
            <a:ext cx="1525770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ダークグレー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R51 G51 B51</a:t>
            </a:r>
          </a:p>
        </p:txBody>
      </p:sp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ACA1EDBB-4DB2-E24D-83B0-24E929FD55CA}"/>
              </a:ext>
            </a:extLst>
          </p:cNvPr>
          <p:cNvSpPr/>
          <p:nvPr userDrawn="1"/>
        </p:nvSpPr>
        <p:spPr>
          <a:xfrm>
            <a:off x="-1085090" y="3308012"/>
            <a:ext cx="542545" cy="2899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0" name="正方形/長方形 49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 userDrawn="1"/>
        </p:nvSpPr>
        <p:spPr>
          <a:xfrm>
            <a:off x="-1085090" y="2201310"/>
            <a:ext cx="542545" cy="289920"/>
          </a:xfrm>
          <a:prstGeom prst="rect">
            <a:avLst/>
          </a:prstGeom>
          <a:solidFill>
            <a:srgbClr val="4BC3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610859" y="2201310"/>
            <a:ext cx="1584626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ブルー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R75 G195 B255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40500AD-14E2-CB4D-9452-050B16BFCA22}"/>
              </a:ext>
            </a:extLst>
          </p:cNvPr>
          <p:cNvSpPr/>
          <p:nvPr userDrawn="1"/>
        </p:nvSpPr>
        <p:spPr>
          <a:xfrm>
            <a:off x="-1085090" y="2754661"/>
            <a:ext cx="542545" cy="289920"/>
          </a:xfrm>
          <a:prstGeom prst="rect">
            <a:avLst/>
          </a:prstGeom>
          <a:solidFill>
            <a:srgbClr val="FA0A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en-US" altLang="ja-JP" sz="1200">
              <a:solidFill>
                <a:srgbClr val="333333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F4AC7A4D-6E21-7A4C-A961-5DA83D8F01AE}"/>
              </a:ext>
            </a:extLst>
          </p:cNvPr>
          <p:cNvSpPr/>
          <p:nvPr userDrawn="1"/>
        </p:nvSpPr>
        <p:spPr>
          <a:xfrm>
            <a:off x="-2610859" y="2754661"/>
            <a:ext cx="1584626" cy="2899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アクセントカラー </a:t>
            </a:r>
            <a:r>
              <a:rPr kumimoji="1" lang="en-US" altLang="ja-JP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/</a:t>
            </a:r>
            <a:r>
              <a:rPr kumimoji="1" lang="ja-JP" altLang="en-US" sz="7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レッド</a:t>
            </a:r>
            <a:r>
              <a:rPr kumimoji="1" lang="en-US" altLang="ja-JP" sz="8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endParaRPr kumimoji="1" lang="en-US" altLang="ja-JP" sz="80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r"/>
            <a:r>
              <a:rPr kumimoji="1" lang="en-US" altLang="ja-JP" sz="8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R250 G10 B60</a:t>
            </a:r>
          </a:p>
        </p:txBody>
      </p:sp>
    </p:spTree>
    <p:extLst>
      <p:ext uri="{BB962C8B-B14F-4D97-AF65-F5344CB8AC3E}">
        <p14:creationId xmlns:p14="http://schemas.microsoft.com/office/powerpoint/2010/main" val="1638553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</p:sldLayoutIdLst>
  <p:hf sldNum="0" hdr="0" ftr="0"/>
  <p:txStyles>
    <p:titleStyle>
      <a:lvl1pPr algn="l" defTabSz="914400" rtl="0" eaLnBrk="1" latinLnBrk="0" hangingPunct="1">
        <a:spcBef>
          <a:spcPct val="0"/>
        </a:spcBef>
        <a:buNone/>
        <a:defRPr kumimoji="1" sz="2000" b="1" kern="1200" baseline="0">
          <a:solidFill>
            <a:srgbClr val="323C99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0" marR="0" indent="-144000" algn="l" defTabSz="914400" rtl="0" eaLnBrk="1" fontAlgn="auto" latinLnBrk="0" hangingPunct="1">
        <a:lnSpc>
          <a:spcPct val="100000"/>
        </a:lnSpc>
        <a:spcBef>
          <a:spcPts val="600"/>
        </a:spcBef>
        <a:spcAft>
          <a:spcPts val="0"/>
        </a:spcAft>
        <a:buClrTx/>
        <a:buSzTx/>
        <a:buFont typeface="Arial" panose="020B0604020202020204" pitchFamily="34" charset="0"/>
        <a:buNone/>
        <a:tabLst/>
        <a:defRPr kumimoji="1" sz="16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1pPr>
      <a:lvl2pPr marL="36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12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2pPr>
      <a:lvl3pPr marL="72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•"/>
        <a:defRPr kumimoji="1" sz="105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3pPr>
      <a:lvl4pPr marL="108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–"/>
        <a:defRPr kumimoji="1" sz="9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4pPr>
      <a:lvl5pPr marL="1440000" indent="-144000" algn="l" defTabSz="914400" rtl="0" eaLnBrk="1" latinLnBrk="0" hangingPunct="1">
        <a:lnSpc>
          <a:spcPct val="100000"/>
        </a:lnSpc>
        <a:spcBef>
          <a:spcPts val="600"/>
        </a:spcBef>
        <a:spcAft>
          <a:spcPts val="0"/>
        </a:spcAft>
        <a:buFont typeface="Arial" panose="020B0604020202020204" pitchFamily="34" charset="0"/>
        <a:buChar char="»"/>
        <a:defRPr kumimoji="1" sz="900" kern="1200" baseline="0">
          <a:solidFill>
            <a:srgbClr val="333333"/>
          </a:solidFill>
          <a:latin typeface="メイリオ" panose="020B0604030504040204" pitchFamily="50" charset="-128"/>
          <a:ea typeface="メイリオ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logmi.jp/main/technology/322738" TargetMode="Externa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B032D66-761C-059B-D607-BA15947E7E7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dirty="0"/>
              <a:t>SHAP</a:t>
            </a:r>
            <a:r>
              <a:rPr kumimoji="1" lang="ja-JP" altLang="en-US" dirty="0"/>
              <a:t>値とは？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0ED4077-88E9-3068-8F7E-FEF496E898C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16, 2025</a:t>
            </a:fld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B20B04C-E2A0-D467-13A1-F37BF3E25F91}"/>
              </a:ext>
            </a:extLst>
          </p:cNvPr>
          <p:cNvSpPr/>
          <p:nvPr/>
        </p:nvSpPr>
        <p:spPr>
          <a:xfrm>
            <a:off x="425222" y="767396"/>
            <a:ext cx="11359410" cy="8152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bIns="46800" spcCol="180000" rtlCol="0" anchor="ctr">
            <a:no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kumimoji="1" lang="en-US" altLang="ja-JP" b="1" dirty="0">
                <a:solidFill>
                  <a:schemeClr val="accent4">
                    <a:lumMod val="50000"/>
                  </a:schemeClr>
                </a:solidFill>
              </a:rPr>
              <a:t>SHAP</a:t>
            </a:r>
            <a:r>
              <a:rPr lang="ja-JP" altLang="en-US" b="1" dirty="0">
                <a:solidFill>
                  <a:schemeClr val="accent4">
                    <a:lumMod val="50000"/>
                  </a:schemeClr>
                </a:solidFill>
              </a:rPr>
              <a:t>（</a:t>
            </a:r>
            <a:r>
              <a:rPr lang="en-US" altLang="ja-JP" b="1" dirty="0">
                <a:solidFill>
                  <a:schemeClr val="accent4">
                    <a:lumMod val="50000"/>
                  </a:schemeClr>
                </a:solidFill>
              </a:rPr>
              <a:t>SHapley Additive exPlanations</a:t>
            </a:r>
            <a:r>
              <a:rPr lang="ja-JP" altLang="en-US" b="1" dirty="0">
                <a:solidFill>
                  <a:schemeClr val="accent4">
                    <a:lumMod val="50000"/>
                  </a:schemeClr>
                </a:solidFill>
              </a:rPr>
              <a:t>の略）とは、機械学習モデルの予測値を解釈するための手法</a:t>
            </a:r>
            <a:endParaRPr lang="en-US" altLang="ja-JP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lang="ja-JP" altLang="en-US" b="1" dirty="0">
                <a:solidFill>
                  <a:schemeClr val="accent4">
                    <a:lumMod val="50000"/>
                  </a:schemeClr>
                </a:solidFill>
              </a:rPr>
              <a:t>個別の予測値に対し「どの説明変数がどれだけ、どちら向き（＋／−）に寄与したか」を示すことが可能</a:t>
            </a:r>
            <a:endParaRPr kumimoji="1" lang="ja-JP" altLang="en-US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59EB7AD-4921-6B86-95AB-E387364D4C7F}"/>
              </a:ext>
            </a:extLst>
          </p:cNvPr>
          <p:cNvSpPr txBox="1"/>
          <p:nvPr/>
        </p:nvSpPr>
        <p:spPr>
          <a:xfrm>
            <a:off x="434149" y="1624194"/>
            <a:ext cx="11359410" cy="714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US" altLang="ja-JP" sz="1600" b="1" dirty="0">
                <a:solidFill>
                  <a:schemeClr val="bg1">
                    <a:lumMod val="50000"/>
                  </a:schemeClr>
                </a:solidFill>
              </a:rPr>
              <a:t>SHAP</a:t>
            </a:r>
            <a:r>
              <a:rPr lang="ja-JP" altLang="en-US" sz="1600" b="1" dirty="0">
                <a:solidFill>
                  <a:schemeClr val="bg1">
                    <a:lumMod val="50000"/>
                  </a:schemeClr>
                </a:solidFill>
              </a:rPr>
              <a:t>値は、各レコードごとに「どの変数がどれだけ、どちら向きに効いたか」を数値で示せる＝ 局所的説明</a:t>
            </a:r>
            <a:endParaRPr lang="en-US" altLang="ja-JP" sz="1600" b="1" dirty="0">
              <a:solidFill>
                <a:schemeClr val="bg1">
                  <a:lumMod val="50000"/>
                </a:schemeClr>
              </a:solidFill>
            </a:endParaRPr>
          </a:p>
          <a:p>
            <a:pPr>
              <a:lnSpc>
                <a:spcPts val="2500"/>
              </a:lnSpc>
            </a:pPr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</a:rPr>
              <a:t>特徴量重要度は「データ全体で相対的にどの変数が効いているか」を示す＝ 大域的説明</a:t>
            </a:r>
            <a:endParaRPr lang="en-US" altLang="ja-JP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FEBC071-0443-2E0F-7C2A-7317AF393C09}"/>
              </a:ext>
            </a:extLst>
          </p:cNvPr>
          <p:cNvSpPr/>
          <p:nvPr/>
        </p:nvSpPr>
        <p:spPr>
          <a:xfrm>
            <a:off x="739620" y="2734391"/>
            <a:ext cx="612000" cy="612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10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D63947F5-6398-4DA5-62E0-F61ECF376003}"/>
              </a:ext>
            </a:extLst>
          </p:cNvPr>
          <p:cNvSpPr/>
          <p:nvPr/>
        </p:nvSpPr>
        <p:spPr>
          <a:xfrm>
            <a:off x="739620" y="3823004"/>
            <a:ext cx="612000" cy="612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22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8EF38EF1-80A8-F2A0-79F0-BF93A4B4D4F1}"/>
              </a:ext>
            </a:extLst>
          </p:cNvPr>
          <p:cNvSpPr/>
          <p:nvPr/>
        </p:nvSpPr>
        <p:spPr>
          <a:xfrm>
            <a:off x="739620" y="4911617"/>
            <a:ext cx="612000" cy="612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5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pic>
        <p:nvPicPr>
          <p:cNvPr id="11" name="グラフィックス 10" descr="頭の中の脳 単色塗りつぶし">
            <a:extLst>
              <a:ext uri="{FF2B5EF4-FFF2-40B4-BE49-F238E27FC236}">
                <a16:creationId xmlns:a16="http://schemas.microsoft.com/office/drawing/2014/main" id="{6C1B23D4-B54D-B768-6FC7-F050425BCC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10924" y="3615472"/>
            <a:ext cx="914400" cy="914400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B6713CC-F103-1F3F-8777-2061ED52DCDE}"/>
              </a:ext>
            </a:extLst>
          </p:cNvPr>
          <p:cNvSpPr txBox="1"/>
          <p:nvPr/>
        </p:nvSpPr>
        <p:spPr>
          <a:xfrm>
            <a:off x="443077" y="3390207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発注スコア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B294C86-A7A0-8E5B-B801-46ABFEAD3867}"/>
              </a:ext>
            </a:extLst>
          </p:cNvPr>
          <p:cNvSpPr txBox="1"/>
          <p:nvPr/>
        </p:nvSpPr>
        <p:spPr>
          <a:xfrm>
            <a:off x="443077" y="4501842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600" dirty="0"/>
              <a:t>生産</a:t>
            </a:r>
            <a:r>
              <a:rPr kumimoji="1" lang="ja-JP" altLang="en-US" sz="1600" dirty="0"/>
              <a:t>スコア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2241329-9C9C-6FA5-AAF2-A73A28D95BE0}"/>
              </a:ext>
            </a:extLst>
          </p:cNvPr>
          <p:cNvSpPr txBox="1"/>
          <p:nvPr/>
        </p:nvSpPr>
        <p:spPr>
          <a:xfrm>
            <a:off x="443077" y="5586526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滞留スコア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559EECA-7E05-636E-1808-DD8E9DF8AF94}"/>
              </a:ext>
            </a:extLst>
          </p:cNvPr>
          <p:cNvCxnSpPr/>
          <p:nvPr/>
        </p:nvCxnSpPr>
        <p:spPr>
          <a:xfrm>
            <a:off x="1650914" y="3040391"/>
            <a:ext cx="1415206" cy="908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7A37ABB2-579D-A1E6-413A-2D0BF0230F26}"/>
              </a:ext>
            </a:extLst>
          </p:cNvPr>
          <p:cNvCxnSpPr>
            <a:cxnSpLocks/>
          </p:cNvCxnSpPr>
          <p:nvPr/>
        </p:nvCxnSpPr>
        <p:spPr>
          <a:xfrm>
            <a:off x="1650914" y="4129004"/>
            <a:ext cx="141520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208BF7D-06F6-4E3D-632E-5E786EB57CA5}"/>
              </a:ext>
            </a:extLst>
          </p:cNvPr>
          <p:cNvCxnSpPr>
            <a:cxnSpLocks/>
          </p:cNvCxnSpPr>
          <p:nvPr/>
        </p:nvCxnSpPr>
        <p:spPr>
          <a:xfrm flipV="1">
            <a:off x="1650914" y="4356610"/>
            <a:ext cx="1415206" cy="8922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楕円 23">
            <a:extLst>
              <a:ext uri="{FF2B5EF4-FFF2-40B4-BE49-F238E27FC236}">
                <a16:creationId xmlns:a16="http://schemas.microsoft.com/office/drawing/2014/main" id="{C4F7BAEC-03D1-9586-03FB-C20C36A3E742}"/>
              </a:ext>
            </a:extLst>
          </p:cNvPr>
          <p:cNvSpPr/>
          <p:nvPr/>
        </p:nvSpPr>
        <p:spPr>
          <a:xfrm>
            <a:off x="5482624" y="3828866"/>
            <a:ext cx="612000" cy="612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solidFill>
                  <a:schemeClr val="tx1"/>
                </a:solidFill>
              </a:rPr>
              <a:t>9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89F2D3B5-4868-3513-2F2B-42F69634F802}"/>
              </a:ext>
            </a:extLst>
          </p:cNvPr>
          <p:cNvCxnSpPr>
            <a:cxnSpLocks/>
          </p:cNvCxnSpPr>
          <p:nvPr/>
        </p:nvCxnSpPr>
        <p:spPr>
          <a:xfrm>
            <a:off x="4373418" y="4133669"/>
            <a:ext cx="9345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B52872E6-D453-7795-B736-49F4464DF6A9}"/>
              </a:ext>
            </a:extLst>
          </p:cNvPr>
          <p:cNvSpPr txBox="1"/>
          <p:nvPr/>
        </p:nvSpPr>
        <p:spPr>
          <a:xfrm>
            <a:off x="5388514" y="455056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600" dirty="0"/>
              <a:t>在庫数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5CEB8096-0681-8F5E-8D57-4E4A3514091F}"/>
              </a:ext>
            </a:extLst>
          </p:cNvPr>
          <p:cNvSpPr/>
          <p:nvPr/>
        </p:nvSpPr>
        <p:spPr>
          <a:xfrm>
            <a:off x="6944545" y="2390930"/>
            <a:ext cx="4840087" cy="29223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sz="1400" b="1" dirty="0">
                <a:solidFill>
                  <a:schemeClr val="tx1"/>
                </a:solidFill>
              </a:rPr>
              <a:t>説明変数：</a:t>
            </a:r>
            <a:endParaRPr kumimoji="1" lang="en-US" altLang="ja-JP" sz="1400" b="1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　発注スコア</a:t>
            </a:r>
            <a:r>
              <a:rPr lang="en-US" altLang="ja-JP" sz="1400" dirty="0">
                <a:solidFill>
                  <a:schemeClr val="tx1"/>
                </a:solidFill>
              </a:rPr>
              <a:t> = 10</a:t>
            </a:r>
          </a:p>
          <a:p>
            <a:r>
              <a:rPr lang="ja-JP" altLang="en-US" sz="1400" dirty="0">
                <a:solidFill>
                  <a:schemeClr val="tx1"/>
                </a:solidFill>
              </a:rPr>
              <a:t>　生産スコア </a:t>
            </a:r>
            <a:r>
              <a:rPr lang="en-US" altLang="ja-JP" sz="1400" dirty="0">
                <a:solidFill>
                  <a:schemeClr val="tx1"/>
                </a:solidFill>
              </a:rPr>
              <a:t>= 22</a:t>
            </a:r>
          </a:p>
          <a:p>
            <a:r>
              <a:rPr kumimoji="1" lang="ja-JP" altLang="en-US" sz="1400" dirty="0">
                <a:solidFill>
                  <a:schemeClr val="tx1"/>
                </a:solidFill>
              </a:rPr>
              <a:t>　滞留スコア </a:t>
            </a:r>
            <a:r>
              <a:rPr kumimoji="1" lang="en-US" altLang="ja-JP" sz="1400" dirty="0">
                <a:solidFill>
                  <a:schemeClr val="tx1"/>
                </a:solidFill>
              </a:rPr>
              <a:t>= 9</a:t>
            </a: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kumimoji="1" lang="ja-JP" altLang="en-US" sz="1400" b="1" dirty="0">
                <a:solidFill>
                  <a:schemeClr val="tx1"/>
                </a:solidFill>
              </a:rPr>
              <a:t>予測結果：</a:t>
            </a:r>
            <a:endParaRPr kumimoji="1" lang="en-US" altLang="ja-JP" sz="1400" b="1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　在庫数 </a:t>
            </a:r>
            <a:r>
              <a:rPr lang="en-US" altLang="ja-JP" sz="1400" dirty="0">
                <a:solidFill>
                  <a:schemeClr val="tx1"/>
                </a:solidFill>
              </a:rPr>
              <a:t>= 9</a:t>
            </a: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この時、</a:t>
            </a:r>
            <a:r>
              <a:rPr lang="ja-JP" altLang="en-US" sz="1400" b="1" dirty="0">
                <a:solidFill>
                  <a:schemeClr val="tx1"/>
                </a:solidFill>
              </a:rPr>
              <a:t>モデルの平均的な予測値が</a:t>
            </a:r>
            <a:r>
              <a:rPr lang="en-US" altLang="ja-JP" sz="1400" b="1" dirty="0">
                <a:solidFill>
                  <a:schemeClr val="tx1"/>
                </a:solidFill>
              </a:rPr>
              <a:t>5</a:t>
            </a:r>
            <a:r>
              <a:rPr lang="ja-JP" altLang="en-US" sz="1400" b="1" dirty="0">
                <a:solidFill>
                  <a:schemeClr val="tx1"/>
                </a:solidFill>
              </a:rPr>
              <a:t>だったとする</a:t>
            </a:r>
            <a:r>
              <a:rPr lang="ja-JP" altLang="en-US" sz="1400" dirty="0">
                <a:solidFill>
                  <a:schemeClr val="tx1"/>
                </a:solidFill>
              </a:rPr>
              <a:t>と、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b="1" dirty="0">
                <a:solidFill>
                  <a:schemeClr val="accent2"/>
                </a:solidFill>
              </a:rPr>
              <a:t>今回の予測は</a:t>
            </a:r>
            <a:r>
              <a:rPr lang="en-US" altLang="ja-JP" sz="1400" b="1" dirty="0">
                <a:solidFill>
                  <a:schemeClr val="accent2"/>
                </a:solidFill>
              </a:rPr>
              <a:t>9</a:t>
            </a:r>
            <a:r>
              <a:rPr lang="ja-JP" altLang="en-US" sz="1400" b="1" dirty="0">
                <a:solidFill>
                  <a:schemeClr val="accent2"/>
                </a:solidFill>
              </a:rPr>
              <a:t>で平均予測値</a:t>
            </a:r>
            <a:r>
              <a:rPr lang="en-US" altLang="ja-JP" sz="1400" b="1" dirty="0">
                <a:solidFill>
                  <a:schemeClr val="accent2"/>
                </a:solidFill>
              </a:rPr>
              <a:t>5</a:t>
            </a:r>
            <a:r>
              <a:rPr lang="ja-JP" altLang="en-US" sz="1400" b="1" dirty="0">
                <a:solidFill>
                  <a:schemeClr val="accent2"/>
                </a:solidFill>
              </a:rPr>
              <a:t>より</a:t>
            </a:r>
            <a:r>
              <a:rPr lang="en-US" altLang="ja-JP" sz="1400" b="1" dirty="0">
                <a:solidFill>
                  <a:schemeClr val="accent2"/>
                </a:solidFill>
              </a:rPr>
              <a:t>+4</a:t>
            </a:r>
            <a:r>
              <a:rPr lang="ja-JP" altLang="en-US" sz="1400" b="1" dirty="0">
                <a:solidFill>
                  <a:schemeClr val="accent2"/>
                </a:solidFill>
              </a:rPr>
              <a:t>という結果</a:t>
            </a:r>
            <a:r>
              <a:rPr lang="ja-JP" altLang="en-US" sz="1400" dirty="0">
                <a:solidFill>
                  <a:schemeClr val="tx1"/>
                </a:solidFill>
              </a:rPr>
              <a:t>になる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en-US" altLang="ja-JP" sz="1400" b="1" dirty="0">
                <a:solidFill>
                  <a:schemeClr val="accent2"/>
                </a:solidFill>
              </a:rPr>
              <a:t>SHAP</a:t>
            </a:r>
            <a:r>
              <a:rPr lang="ja-JP" altLang="en-US" sz="1400" b="1" dirty="0">
                <a:solidFill>
                  <a:schemeClr val="accent2"/>
                </a:solidFill>
              </a:rPr>
              <a:t>値は、この「</a:t>
            </a:r>
            <a:r>
              <a:rPr lang="en-US" altLang="ja-JP" sz="1400" b="1" dirty="0">
                <a:solidFill>
                  <a:schemeClr val="accent2"/>
                </a:solidFill>
              </a:rPr>
              <a:t>+4</a:t>
            </a:r>
            <a:r>
              <a:rPr lang="ja-JP" altLang="en-US" sz="1400" b="1" dirty="0">
                <a:solidFill>
                  <a:schemeClr val="accent2"/>
                </a:solidFill>
              </a:rPr>
              <a:t>」を変数別に分解した内訳を示す</a:t>
            </a:r>
            <a:endParaRPr lang="en-US" altLang="ja-JP" sz="1400" b="1" dirty="0">
              <a:solidFill>
                <a:schemeClr val="accent2"/>
              </a:solidFill>
            </a:endParaRPr>
          </a:p>
          <a:p>
            <a:r>
              <a:rPr lang="ja-JP" altLang="en-US" sz="1400" b="1" dirty="0">
                <a:solidFill>
                  <a:schemeClr val="accent2"/>
                </a:solidFill>
              </a:rPr>
              <a:t>各特徴の</a:t>
            </a:r>
            <a:r>
              <a:rPr lang="en-US" altLang="ja-JP" sz="1400" b="1" dirty="0">
                <a:solidFill>
                  <a:schemeClr val="accent2"/>
                </a:solidFill>
              </a:rPr>
              <a:t>SHAP</a:t>
            </a:r>
            <a:r>
              <a:rPr lang="ja-JP" altLang="en-US" sz="1400" b="1" dirty="0">
                <a:solidFill>
                  <a:schemeClr val="accent2"/>
                </a:solidFill>
              </a:rPr>
              <a:t>値を合計すると </a:t>
            </a:r>
            <a:r>
              <a:rPr lang="en-US" altLang="ja-JP" sz="1400" b="1" dirty="0">
                <a:solidFill>
                  <a:schemeClr val="accent2"/>
                </a:solidFill>
              </a:rPr>
              <a:t>+4 </a:t>
            </a:r>
            <a:r>
              <a:rPr lang="ja-JP" altLang="en-US" sz="1400" b="1" dirty="0">
                <a:solidFill>
                  <a:schemeClr val="accent2"/>
                </a:solidFill>
              </a:rPr>
              <a:t>に一致する</a:t>
            </a:r>
            <a:endParaRPr kumimoji="1" lang="en-US" altLang="ja-JP" b="1" dirty="0">
              <a:solidFill>
                <a:schemeClr val="accent2"/>
              </a:solidFill>
            </a:endParaRPr>
          </a:p>
        </p:txBody>
      </p:sp>
      <p:cxnSp>
        <p:nvCxnSpPr>
          <p:cNvPr id="31" name="コネクタ: カギ線 30">
            <a:extLst>
              <a:ext uri="{FF2B5EF4-FFF2-40B4-BE49-F238E27FC236}">
                <a16:creationId xmlns:a16="http://schemas.microsoft.com/office/drawing/2014/main" id="{0BB4C8A4-433A-7FDD-F8B0-CE93A75CB4FB}"/>
              </a:ext>
            </a:extLst>
          </p:cNvPr>
          <p:cNvCxnSpPr>
            <a:cxnSpLocks/>
            <a:stCxn id="29" idx="1"/>
            <a:endCxn id="11" idx="0"/>
          </p:cNvCxnSpPr>
          <p:nvPr/>
        </p:nvCxnSpPr>
        <p:spPr>
          <a:xfrm rot="10800000">
            <a:off x="3768125" y="3615472"/>
            <a:ext cx="3176421" cy="236656"/>
          </a:xfrm>
          <a:prstGeom prst="bentConnector4">
            <a:avLst>
              <a:gd name="adj1" fmla="val 13705"/>
              <a:gd name="adj2" fmla="val 19659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テキスト ボックス 52">
            <a:extLst>
              <a:ext uri="{FF2B5EF4-FFF2-40B4-BE49-F238E27FC236}">
                <a16:creationId xmlns:a16="http://schemas.microsoft.com/office/drawing/2014/main" id="{6035B3CC-39C0-32E2-397D-14C4051AF7F6}"/>
              </a:ext>
            </a:extLst>
          </p:cNvPr>
          <p:cNvSpPr txBox="1"/>
          <p:nvPr/>
        </p:nvSpPr>
        <p:spPr>
          <a:xfrm>
            <a:off x="1855661" y="3314739"/>
            <a:ext cx="81292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SHAP</a:t>
            </a:r>
            <a:r>
              <a:rPr kumimoji="1" lang="ja-JP" altLang="en-US" sz="1400" dirty="0"/>
              <a:t>値</a:t>
            </a:r>
          </a:p>
        </p:txBody>
      </p: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F759B983-B473-D793-C5D7-9EE1FF34D0D6}"/>
              </a:ext>
            </a:extLst>
          </p:cNvPr>
          <p:cNvSpPr txBox="1"/>
          <p:nvPr/>
        </p:nvSpPr>
        <p:spPr>
          <a:xfrm>
            <a:off x="1855661" y="3960168"/>
            <a:ext cx="81292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SHAP</a:t>
            </a:r>
            <a:r>
              <a:rPr kumimoji="1" lang="ja-JP" altLang="en-US" sz="1400" dirty="0"/>
              <a:t>値</a:t>
            </a:r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53B9C69-4751-7595-C140-BE8B1CC2553C}"/>
              </a:ext>
            </a:extLst>
          </p:cNvPr>
          <p:cNvSpPr txBox="1"/>
          <p:nvPr/>
        </p:nvSpPr>
        <p:spPr>
          <a:xfrm>
            <a:off x="1855661" y="4760704"/>
            <a:ext cx="812924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SHAP</a:t>
            </a:r>
            <a:r>
              <a:rPr kumimoji="1" lang="ja-JP" altLang="en-US" sz="1400" dirty="0"/>
              <a:t>値</a:t>
            </a:r>
          </a:p>
        </p:txBody>
      </p:sp>
      <p:sp>
        <p:nvSpPr>
          <p:cNvPr id="57" name="加算記号 56">
            <a:extLst>
              <a:ext uri="{FF2B5EF4-FFF2-40B4-BE49-F238E27FC236}">
                <a16:creationId xmlns:a16="http://schemas.microsoft.com/office/drawing/2014/main" id="{5792947E-9AC0-E893-3160-2CD9128A8254}"/>
              </a:ext>
            </a:extLst>
          </p:cNvPr>
          <p:cNvSpPr/>
          <p:nvPr/>
        </p:nvSpPr>
        <p:spPr>
          <a:xfrm>
            <a:off x="2167950" y="3693893"/>
            <a:ext cx="179265" cy="194917"/>
          </a:xfrm>
          <a:prstGeom prst="mathPlus">
            <a:avLst>
              <a:gd name="adj1" fmla="val 62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加算記号 58">
            <a:extLst>
              <a:ext uri="{FF2B5EF4-FFF2-40B4-BE49-F238E27FC236}">
                <a16:creationId xmlns:a16="http://schemas.microsoft.com/office/drawing/2014/main" id="{CBAF0D2A-9D25-E9E8-0CF1-F062B4BD9E9D}"/>
              </a:ext>
            </a:extLst>
          </p:cNvPr>
          <p:cNvSpPr/>
          <p:nvPr/>
        </p:nvSpPr>
        <p:spPr>
          <a:xfrm>
            <a:off x="2167949" y="4468795"/>
            <a:ext cx="179265" cy="194917"/>
          </a:xfrm>
          <a:prstGeom prst="mathPlus">
            <a:avLst>
              <a:gd name="adj1" fmla="val 62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次の値と等しい 60">
            <a:extLst>
              <a:ext uri="{FF2B5EF4-FFF2-40B4-BE49-F238E27FC236}">
                <a16:creationId xmlns:a16="http://schemas.microsoft.com/office/drawing/2014/main" id="{FFC7BBDC-9777-F5AE-56A9-0F764E577757}"/>
              </a:ext>
            </a:extLst>
          </p:cNvPr>
          <p:cNvSpPr/>
          <p:nvPr/>
        </p:nvSpPr>
        <p:spPr>
          <a:xfrm rot="5400000">
            <a:off x="2176285" y="5130120"/>
            <a:ext cx="162591" cy="268901"/>
          </a:xfrm>
          <a:prstGeom prst="mathEqual">
            <a:avLst>
              <a:gd name="adj1" fmla="val 0"/>
              <a:gd name="adj2" fmla="val 207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7E994C47-EA65-4FD5-A9F4-9DC183B632E0}"/>
              </a:ext>
            </a:extLst>
          </p:cNvPr>
          <p:cNvSpPr txBox="1"/>
          <p:nvPr/>
        </p:nvSpPr>
        <p:spPr>
          <a:xfrm>
            <a:off x="1955119" y="5538512"/>
            <a:ext cx="595035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1600" b="1" dirty="0"/>
              <a:t>＋４</a:t>
            </a:r>
          </a:p>
        </p:txBody>
      </p:sp>
      <p:sp>
        <p:nvSpPr>
          <p:cNvPr id="66" name="加算記号 65">
            <a:extLst>
              <a:ext uri="{FF2B5EF4-FFF2-40B4-BE49-F238E27FC236}">
                <a16:creationId xmlns:a16="http://schemas.microsoft.com/office/drawing/2014/main" id="{B86732CA-5167-4D4B-0C29-A6670557C0C8}"/>
              </a:ext>
            </a:extLst>
          </p:cNvPr>
          <p:cNvSpPr/>
          <p:nvPr/>
        </p:nvSpPr>
        <p:spPr>
          <a:xfrm>
            <a:off x="2971544" y="5596470"/>
            <a:ext cx="179265" cy="194917"/>
          </a:xfrm>
          <a:prstGeom prst="mathPlus">
            <a:avLst>
              <a:gd name="adj1" fmla="val 62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テキスト ボックス 66">
            <a:extLst>
              <a:ext uri="{FF2B5EF4-FFF2-40B4-BE49-F238E27FC236}">
                <a16:creationId xmlns:a16="http://schemas.microsoft.com/office/drawing/2014/main" id="{B6B6FAFD-828F-29CE-E09A-2446324D74B1}"/>
              </a:ext>
            </a:extLst>
          </p:cNvPr>
          <p:cNvSpPr txBox="1"/>
          <p:nvPr/>
        </p:nvSpPr>
        <p:spPr>
          <a:xfrm>
            <a:off x="3608026" y="5538512"/>
            <a:ext cx="303288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5</a:t>
            </a:r>
            <a:endParaRPr kumimoji="1" lang="ja-JP" altLang="en-US" sz="1600" b="1" dirty="0"/>
          </a:p>
        </p:txBody>
      </p:sp>
      <p:cxnSp>
        <p:nvCxnSpPr>
          <p:cNvPr id="73" name="直線コネクタ 72">
            <a:extLst>
              <a:ext uri="{FF2B5EF4-FFF2-40B4-BE49-F238E27FC236}">
                <a16:creationId xmlns:a16="http://schemas.microsoft.com/office/drawing/2014/main" id="{7CBBEFF8-8FA5-4668-E940-FC105FAC4A4B}"/>
              </a:ext>
            </a:extLst>
          </p:cNvPr>
          <p:cNvCxnSpPr>
            <a:cxnSpLocks/>
            <a:stCxn id="85" idx="2"/>
            <a:endCxn id="67" idx="0"/>
          </p:cNvCxnSpPr>
          <p:nvPr/>
        </p:nvCxnSpPr>
        <p:spPr>
          <a:xfrm flipH="1">
            <a:off x="3759670" y="4845696"/>
            <a:ext cx="1821" cy="6928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次の値と等しい 75">
            <a:extLst>
              <a:ext uri="{FF2B5EF4-FFF2-40B4-BE49-F238E27FC236}">
                <a16:creationId xmlns:a16="http://schemas.microsoft.com/office/drawing/2014/main" id="{605389B6-B56C-7014-B34D-AC1E024319C5}"/>
              </a:ext>
            </a:extLst>
          </p:cNvPr>
          <p:cNvSpPr/>
          <p:nvPr/>
        </p:nvSpPr>
        <p:spPr>
          <a:xfrm rot="10800000">
            <a:off x="4735834" y="5567549"/>
            <a:ext cx="162591" cy="268901"/>
          </a:xfrm>
          <a:prstGeom prst="mathEqual">
            <a:avLst>
              <a:gd name="adj1" fmla="val 0"/>
              <a:gd name="adj2" fmla="val 207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7ABB1D11-5D24-3425-93E0-9EDC6FFBA448}"/>
              </a:ext>
            </a:extLst>
          </p:cNvPr>
          <p:cNvSpPr txBox="1"/>
          <p:nvPr/>
        </p:nvSpPr>
        <p:spPr>
          <a:xfrm>
            <a:off x="5649892" y="5532723"/>
            <a:ext cx="303288" cy="33855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altLang="ja-JP" sz="1600" b="1" dirty="0"/>
              <a:t>9</a:t>
            </a:r>
            <a:endParaRPr kumimoji="1" lang="ja-JP" altLang="en-US" sz="1600" b="1" dirty="0"/>
          </a:p>
        </p:txBody>
      </p:sp>
      <p:sp>
        <p:nvSpPr>
          <p:cNvPr id="80" name="テキスト ボックス 79">
            <a:extLst>
              <a:ext uri="{FF2B5EF4-FFF2-40B4-BE49-F238E27FC236}">
                <a16:creationId xmlns:a16="http://schemas.microsoft.com/office/drawing/2014/main" id="{39BB3BBF-8D61-A5D2-E76D-A4DD9B3DC82B}"/>
              </a:ext>
            </a:extLst>
          </p:cNvPr>
          <p:cNvSpPr txBox="1"/>
          <p:nvPr/>
        </p:nvSpPr>
        <p:spPr>
          <a:xfrm>
            <a:off x="1502601" y="5921861"/>
            <a:ext cx="1378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accent6"/>
                </a:solidFill>
              </a:rPr>
              <a:t>レコード</a:t>
            </a:r>
            <a:r>
              <a:rPr lang="en-US" altLang="ja-JP" sz="1400" b="1" dirty="0">
                <a:solidFill>
                  <a:schemeClr val="accent6"/>
                </a:solidFill>
              </a:rPr>
              <a:t>i</a:t>
            </a:r>
            <a:r>
              <a:rPr lang="ja-JP" altLang="en-US" sz="1400" b="1" dirty="0">
                <a:solidFill>
                  <a:schemeClr val="accent6"/>
                </a:solidFill>
              </a:rPr>
              <a:t>の</a:t>
            </a:r>
            <a:endParaRPr kumimoji="1" lang="en-US" altLang="ja-JP" sz="1400" b="1" dirty="0">
              <a:solidFill>
                <a:schemeClr val="accent6"/>
              </a:solidFill>
            </a:endParaRPr>
          </a:p>
          <a:p>
            <a:r>
              <a:rPr kumimoji="1" lang="en-US" altLang="ja-JP" sz="1400" b="1" dirty="0">
                <a:solidFill>
                  <a:schemeClr val="accent6"/>
                </a:solidFill>
              </a:rPr>
              <a:t>SHAP</a:t>
            </a:r>
            <a:r>
              <a:rPr kumimoji="1" lang="ja-JP" altLang="en-US" sz="1400" b="1" dirty="0">
                <a:solidFill>
                  <a:schemeClr val="accent6"/>
                </a:solidFill>
              </a:rPr>
              <a:t>値の合計</a:t>
            </a:r>
          </a:p>
        </p:txBody>
      </p:sp>
      <p:sp>
        <p:nvSpPr>
          <p:cNvPr id="81" name="テキスト ボックス 80">
            <a:extLst>
              <a:ext uri="{FF2B5EF4-FFF2-40B4-BE49-F238E27FC236}">
                <a16:creationId xmlns:a16="http://schemas.microsoft.com/office/drawing/2014/main" id="{2B770742-9F01-34D1-57AE-354736F651A4}"/>
              </a:ext>
            </a:extLst>
          </p:cNvPr>
          <p:cNvSpPr txBox="1"/>
          <p:nvPr/>
        </p:nvSpPr>
        <p:spPr>
          <a:xfrm>
            <a:off x="2925194" y="5921861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6"/>
                </a:solidFill>
              </a:rPr>
              <a:t>モデルの平均予測値</a:t>
            </a:r>
            <a:endParaRPr kumimoji="1" lang="en-US" altLang="ja-JP" sz="1400" b="1" dirty="0">
              <a:solidFill>
                <a:schemeClr val="accent6"/>
              </a:solidFill>
            </a:endParaRPr>
          </a:p>
          <a:p>
            <a:r>
              <a:rPr kumimoji="1" lang="ja-JP" altLang="en-US" sz="1400" b="1" dirty="0">
                <a:solidFill>
                  <a:schemeClr val="accent6"/>
                </a:solidFill>
              </a:rPr>
              <a:t>（</a:t>
            </a:r>
            <a:r>
              <a:rPr kumimoji="1" lang="en-US" altLang="ja-JP" sz="1400" b="1" dirty="0">
                <a:solidFill>
                  <a:schemeClr val="accent6"/>
                </a:solidFill>
              </a:rPr>
              <a:t>base value</a:t>
            </a:r>
            <a:r>
              <a:rPr kumimoji="1" lang="ja-JP" altLang="en-US" sz="1400" b="1" dirty="0">
                <a:solidFill>
                  <a:schemeClr val="accent6"/>
                </a:solidFill>
              </a:rPr>
              <a:t>）</a:t>
            </a:r>
          </a:p>
        </p:txBody>
      </p:sp>
      <p:sp>
        <p:nvSpPr>
          <p:cNvPr id="82" name="テキスト ボックス 81">
            <a:extLst>
              <a:ext uri="{FF2B5EF4-FFF2-40B4-BE49-F238E27FC236}">
                <a16:creationId xmlns:a16="http://schemas.microsoft.com/office/drawing/2014/main" id="{B3737BF0-FB59-D685-A781-62B4EEFD1592}"/>
              </a:ext>
            </a:extLst>
          </p:cNvPr>
          <p:cNvSpPr txBox="1"/>
          <p:nvPr/>
        </p:nvSpPr>
        <p:spPr>
          <a:xfrm>
            <a:off x="4769376" y="5929327"/>
            <a:ext cx="23903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accent6"/>
                </a:solidFill>
              </a:rPr>
              <a:t>レコード</a:t>
            </a:r>
            <a:r>
              <a:rPr kumimoji="1" lang="en-US" altLang="ja-JP" sz="1400" b="1" dirty="0">
                <a:solidFill>
                  <a:schemeClr val="accent6"/>
                </a:solidFill>
              </a:rPr>
              <a:t>i</a:t>
            </a:r>
            <a:r>
              <a:rPr kumimoji="1" lang="ja-JP" altLang="en-US" sz="1400" b="1" dirty="0">
                <a:solidFill>
                  <a:schemeClr val="accent6"/>
                </a:solidFill>
              </a:rPr>
              <a:t>のモデルの予測値</a:t>
            </a:r>
          </a:p>
        </p:txBody>
      </p:sp>
      <p:sp>
        <p:nvSpPr>
          <p:cNvPr id="85" name="テキスト ボックス 84">
            <a:extLst>
              <a:ext uri="{FF2B5EF4-FFF2-40B4-BE49-F238E27FC236}">
                <a16:creationId xmlns:a16="http://schemas.microsoft.com/office/drawing/2014/main" id="{5CFA04B1-2E68-F4F0-4737-33A8DB37FB59}"/>
              </a:ext>
            </a:extLst>
          </p:cNvPr>
          <p:cNvSpPr txBox="1"/>
          <p:nvPr/>
        </p:nvSpPr>
        <p:spPr>
          <a:xfrm>
            <a:off x="3130549" y="4537919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学習済モデル</a:t>
            </a:r>
          </a:p>
        </p:txBody>
      </p:sp>
      <p:pic>
        <p:nvPicPr>
          <p:cNvPr id="100" name="図 99">
            <a:extLst>
              <a:ext uri="{FF2B5EF4-FFF2-40B4-BE49-F238E27FC236}">
                <a16:creationId xmlns:a16="http://schemas.microsoft.com/office/drawing/2014/main" id="{16891975-C094-5F0B-016C-7470429EF2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581" y="5001409"/>
            <a:ext cx="2352225" cy="360648"/>
          </a:xfrm>
          <a:prstGeom prst="rect">
            <a:avLst/>
          </a:prstGeom>
        </p:spPr>
      </p:pic>
      <p:sp>
        <p:nvSpPr>
          <p:cNvPr id="101" name="矢印: 右 100">
            <a:extLst>
              <a:ext uri="{FF2B5EF4-FFF2-40B4-BE49-F238E27FC236}">
                <a16:creationId xmlns:a16="http://schemas.microsoft.com/office/drawing/2014/main" id="{8F6809C7-367A-0133-4001-549C10AA5423}"/>
              </a:ext>
            </a:extLst>
          </p:cNvPr>
          <p:cNvSpPr/>
          <p:nvPr/>
        </p:nvSpPr>
        <p:spPr>
          <a:xfrm>
            <a:off x="7203463" y="5791387"/>
            <a:ext cx="347810" cy="33451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5" name="正方形/長方形 104">
            <a:extLst>
              <a:ext uri="{FF2B5EF4-FFF2-40B4-BE49-F238E27FC236}">
                <a16:creationId xmlns:a16="http://schemas.microsoft.com/office/drawing/2014/main" id="{A588BE7B-E822-F6D5-DC8E-1659FB7CA11D}"/>
              </a:ext>
            </a:extLst>
          </p:cNvPr>
          <p:cNvSpPr/>
          <p:nvPr/>
        </p:nvSpPr>
        <p:spPr>
          <a:xfrm>
            <a:off x="7691759" y="5488358"/>
            <a:ext cx="4099980" cy="902557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ja-JP" sz="1600" b="1" dirty="0">
                <a:solidFill>
                  <a:schemeClr val="tx1"/>
                </a:solidFill>
              </a:rPr>
              <a:t>SHAP</a:t>
            </a:r>
            <a:r>
              <a:rPr lang="ja-JP" altLang="en-US" sz="1600" b="1" dirty="0">
                <a:solidFill>
                  <a:schemeClr val="tx1"/>
                </a:solidFill>
              </a:rPr>
              <a:t>値は</a:t>
            </a:r>
            <a:r>
              <a:rPr lang="ja-JP" altLang="en-US" sz="1600" b="1" u="sng" dirty="0">
                <a:solidFill>
                  <a:schemeClr val="tx1"/>
                </a:solidFill>
              </a:rPr>
              <a:t>予測値の変化</a:t>
            </a:r>
            <a:r>
              <a:rPr lang="ja-JP" altLang="en-US" sz="1600" b="1" dirty="0">
                <a:solidFill>
                  <a:schemeClr val="tx1"/>
                </a:solidFill>
              </a:rPr>
              <a:t>を説明するもの</a:t>
            </a:r>
            <a:endParaRPr lang="en-US" altLang="ja-JP" sz="1600" b="1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kumimoji="1" lang="en-US" altLang="ja-JP" sz="1400" dirty="0">
                <a:solidFill>
                  <a:schemeClr val="tx1"/>
                </a:solidFill>
              </a:rPr>
              <a:t>SHAP</a:t>
            </a:r>
            <a:r>
              <a:rPr kumimoji="1" lang="ja-JP" altLang="en-US" sz="1400" dirty="0">
                <a:solidFill>
                  <a:schemeClr val="tx1"/>
                </a:solidFill>
              </a:rPr>
              <a:t>値が正だと予測値を押し上げる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l"/>
            </a:pPr>
            <a:r>
              <a:rPr kumimoji="1" lang="en-US" altLang="ja-JP" sz="1400" dirty="0">
                <a:solidFill>
                  <a:schemeClr val="tx1"/>
                </a:solidFill>
              </a:rPr>
              <a:t>SHAP</a:t>
            </a:r>
            <a:r>
              <a:rPr kumimoji="1" lang="ja-JP" altLang="en-US" sz="1400" dirty="0">
                <a:solidFill>
                  <a:schemeClr val="tx1"/>
                </a:solidFill>
              </a:rPr>
              <a:t>値が負だと予測値を押し下げる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8978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9CE6D4F-301A-FFCA-B3EC-951AA4F51A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dirty="0"/>
              <a:t>SHAP</a:t>
            </a:r>
            <a:r>
              <a:rPr kumimoji="1" lang="ja-JP" altLang="en-US" dirty="0"/>
              <a:t>値の計算方法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91B820-E52B-AF1B-5DD2-80F88E018E7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17, 2025</a:t>
            </a:fld>
            <a:endParaRPr lang="en-US" dirty="0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32CA3E-6844-ADC4-8795-780D3D772114}"/>
              </a:ext>
            </a:extLst>
          </p:cNvPr>
          <p:cNvSpPr/>
          <p:nvPr/>
        </p:nvSpPr>
        <p:spPr>
          <a:xfrm>
            <a:off x="425222" y="767396"/>
            <a:ext cx="11359410" cy="5325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6800" bIns="46800" spcCol="180000" rtlCol="0" anchor="ctr">
            <a:noAutofit/>
          </a:bodyPr>
          <a:lstStyle/>
          <a:p>
            <a:pPr marL="285750" indent="-285750">
              <a:lnSpc>
                <a:spcPts val="3000"/>
              </a:lnSpc>
              <a:buFont typeface="Wingdings" panose="05000000000000000000" pitchFamily="2" charset="2"/>
              <a:buChar char="l"/>
            </a:pPr>
            <a:r>
              <a:rPr kumimoji="1" lang="en-US" altLang="ja-JP" b="1" dirty="0">
                <a:solidFill>
                  <a:schemeClr val="accent4">
                    <a:lumMod val="50000"/>
                  </a:schemeClr>
                </a:solidFill>
              </a:rPr>
              <a:t>SHAP</a:t>
            </a:r>
            <a:r>
              <a:rPr kumimoji="1" lang="ja-JP" altLang="en-US" b="1" dirty="0">
                <a:solidFill>
                  <a:schemeClr val="accent4">
                    <a:lumMod val="50000"/>
                  </a:schemeClr>
                </a:solidFill>
              </a:rPr>
              <a:t>値</a:t>
            </a:r>
            <a:r>
              <a:rPr lang="ja-JP" altLang="en-US" b="1" dirty="0">
                <a:solidFill>
                  <a:schemeClr val="accent4">
                    <a:lumMod val="50000"/>
                  </a:schemeClr>
                </a:solidFill>
              </a:rPr>
              <a:t>とは、協力ゲーム理論で有名なシャープレイ値（利益分配の考え方）を活用した解釈手法</a:t>
            </a:r>
            <a:endParaRPr lang="en-US" altLang="ja-JP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4A546C1E-EFDF-7DF6-A0E8-922F6016AC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77" y="3357052"/>
            <a:ext cx="4183287" cy="1057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C390A18-B876-DEC3-97BF-5198685DC3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779" b="61999"/>
          <a:stretch>
            <a:fillRect/>
          </a:stretch>
        </p:blipFill>
        <p:spPr>
          <a:xfrm>
            <a:off x="443077" y="4579070"/>
            <a:ext cx="4092137" cy="695807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582016-4F14-B4F7-E971-34F426E7F68E}"/>
              </a:ext>
            </a:extLst>
          </p:cNvPr>
          <p:cNvSpPr/>
          <p:nvPr/>
        </p:nvSpPr>
        <p:spPr>
          <a:xfrm>
            <a:off x="5555598" y="1584541"/>
            <a:ext cx="6229034" cy="479936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ja-JP" altLang="en-US" sz="1400" b="1" dirty="0">
                <a:solidFill>
                  <a:schemeClr val="tx1"/>
                </a:solidFill>
              </a:rPr>
              <a:t>レコード </a:t>
            </a:r>
            <a:r>
              <a:rPr lang="en-US" altLang="ja-JP" sz="1400" b="1" dirty="0">
                <a:solidFill>
                  <a:schemeClr val="tx1"/>
                </a:solidFill>
              </a:rPr>
              <a:t>i </a:t>
            </a:r>
            <a:r>
              <a:rPr lang="ja-JP" altLang="en-US" sz="1400" b="1" dirty="0">
                <a:solidFill>
                  <a:schemeClr val="tx1"/>
                </a:solidFill>
              </a:rPr>
              <a:t>におけるある説明変数（発注スコア）の </a:t>
            </a:r>
            <a:r>
              <a:rPr lang="en-US" altLang="ja-JP" sz="1400" b="1" dirty="0">
                <a:solidFill>
                  <a:schemeClr val="tx1"/>
                </a:solidFill>
              </a:rPr>
              <a:t>SHAP </a:t>
            </a:r>
            <a:r>
              <a:rPr lang="ja-JP" altLang="en-US" sz="1400" b="1" dirty="0">
                <a:solidFill>
                  <a:schemeClr val="tx1"/>
                </a:solidFill>
              </a:rPr>
              <a:t>値の計算を解説</a:t>
            </a:r>
            <a:endParaRPr lang="en-US" altLang="ja-JP" sz="1400" b="1" dirty="0">
              <a:solidFill>
                <a:schemeClr val="tx1"/>
              </a:solidFill>
            </a:endParaRPr>
          </a:p>
          <a:p>
            <a:r>
              <a:rPr lang="en-US" altLang="ja-JP" sz="1400" dirty="0">
                <a:solidFill>
                  <a:schemeClr val="tx1"/>
                </a:solidFill>
              </a:rPr>
              <a:t>※</a:t>
            </a:r>
            <a:r>
              <a:rPr lang="ja-JP" altLang="en-US" sz="1400" dirty="0">
                <a:solidFill>
                  <a:schemeClr val="tx1"/>
                </a:solidFill>
              </a:rPr>
              <a:t> 発注スコア：</a:t>
            </a:r>
            <a:r>
              <a:rPr lang="en-US" altLang="ja-JP" sz="1400" dirty="0">
                <a:solidFill>
                  <a:schemeClr val="tx1"/>
                </a:solidFill>
              </a:rPr>
              <a:t>O</a:t>
            </a:r>
            <a:r>
              <a:rPr lang="ja-JP" altLang="en-US" sz="1400" dirty="0">
                <a:solidFill>
                  <a:schemeClr val="tx1"/>
                </a:solidFill>
              </a:rPr>
              <a:t>、生産スコア：</a:t>
            </a:r>
            <a:r>
              <a:rPr lang="en-US" altLang="ja-JP" sz="1400" dirty="0">
                <a:solidFill>
                  <a:schemeClr val="tx1"/>
                </a:solidFill>
              </a:rPr>
              <a:t>P</a:t>
            </a:r>
            <a:r>
              <a:rPr lang="ja-JP" altLang="en-US" sz="1400" dirty="0">
                <a:solidFill>
                  <a:schemeClr val="tx1"/>
                </a:solidFill>
              </a:rPr>
              <a:t>、滞留スコア：</a:t>
            </a:r>
            <a:r>
              <a:rPr lang="en-US" altLang="ja-JP" sz="1400" dirty="0">
                <a:solidFill>
                  <a:schemeClr val="tx1"/>
                </a:solidFill>
              </a:rPr>
              <a:t>R</a:t>
            </a:r>
            <a:r>
              <a:rPr lang="ja-JP" altLang="en-US" sz="1400" dirty="0">
                <a:solidFill>
                  <a:schemeClr val="tx1"/>
                </a:solidFill>
              </a:rPr>
              <a:t>とします</a:t>
            </a:r>
            <a:endParaRPr lang="en-US" altLang="ja-JP" sz="1400" b="1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❶ </a:t>
            </a:r>
            <a:r>
              <a:rPr lang="ja-JP" altLang="en-US" sz="1400" b="1" dirty="0">
                <a:solidFill>
                  <a:schemeClr val="tx1"/>
                </a:solidFill>
              </a:rPr>
              <a:t>発注スコア</a:t>
            </a:r>
            <a:r>
              <a:rPr lang="en-US" altLang="ja-JP" sz="1400" b="1" dirty="0">
                <a:solidFill>
                  <a:schemeClr val="tx1"/>
                </a:solidFill>
              </a:rPr>
              <a:t>O</a:t>
            </a:r>
            <a:r>
              <a:rPr lang="ja-JP" altLang="en-US" sz="1400" b="1" dirty="0">
                <a:solidFill>
                  <a:schemeClr val="tx1"/>
                </a:solidFill>
              </a:rPr>
              <a:t>を入れた際の予測値の変化を計算する（全パターン）</a:t>
            </a:r>
            <a:endParaRPr lang="en-US" altLang="ja-JP" sz="1400" b="1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今回は</a:t>
            </a:r>
            <a:r>
              <a:rPr lang="en-US" altLang="ja-JP" sz="1400" dirty="0">
                <a:solidFill>
                  <a:schemeClr val="tx1"/>
                </a:solidFill>
              </a:rPr>
              <a:t>3</a:t>
            </a:r>
            <a:r>
              <a:rPr lang="ja-JP" altLang="en-US" sz="1400" dirty="0">
                <a:solidFill>
                  <a:schemeClr val="tx1"/>
                </a:solidFill>
              </a:rPr>
              <a:t>変数なので（</a:t>
            </a:r>
            <a:r>
              <a:rPr lang="en-US" altLang="ja-JP" sz="1400" dirty="0">
                <a:solidFill>
                  <a:schemeClr val="tx1"/>
                </a:solidFill>
              </a:rPr>
              <a:t>6</a:t>
            </a:r>
            <a:r>
              <a:rPr lang="ja-JP" altLang="en-US" sz="1400" dirty="0">
                <a:solidFill>
                  <a:schemeClr val="tx1"/>
                </a:solidFill>
              </a:rPr>
              <a:t>パターン）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pt-BR" altLang="ja-JP" sz="1400" dirty="0">
                <a:solidFill>
                  <a:schemeClr val="tx1"/>
                </a:solidFill>
              </a:rPr>
              <a:t>O → P → R</a:t>
            </a:r>
            <a:r>
              <a:rPr lang="ja-JP" altLang="pt-BR" sz="1400" dirty="0">
                <a:solidFill>
                  <a:schemeClr val="tx1"/>
                </a:solidFill>
              </a:rPr>
              <a:t>、</a:t>
            </a:r>
            <a:r>
              <a:rPr lang="pt-BR" altLang="ja-JP" sz="1400" dirty="0">
                <a:solidFill>
                  <a:schemeClr val="tx1"/>
                </a:solidFill>
              </a:rPr>
              <a:t>O → R → P</a:t>
            </a:r>
            <a:r>
              <a:rPr lang="ja-JP" altLang="pt-BR" sz="1400" dirty="0">
                <a:solidFill>
                  <a:schemeClr val="tx1"/>
                </a:solidFill>
              </a:rPr>
              <a:t>、</a:t>
            </a:r>
            <a:r>
              <a:rPr lang="pt-BR" altLang="ja-JP" sz="1400" dirty="0">
                <a:solidFill>
                  <a:schemeClr val="tx1"/>
                </a:solidFill>
              </a:rPr>
              <a:t>P → O → R</a:t>
            </a:r>
          </a:p>
          <a:p>
            <a:r>
              <a:rPr lang="pt-BR" altLang="ja-JP" sz="1400" dirty="0">
                <a:solidFill>
                  <a:schemeClr val="tx1"/>
                </a:solidFill>
              </a:rPr>
              <a:t>R → O → P</a:t>
            </a:r>
            <a:r>
              <a:rPr lang="ja-JP" altLang="pt-BR" sz="1400" dirty="0">
                <a:solidFill>
                  <a:schemeClr val="tx1"/>
                </a:solidFill>
              </a:rPr>
              <a:t>、</a:t>
            </a:r>
            <a:r>
              <a:rPr lang="pt-BR" altLang="ja-JP" sz="1400" dirty="0">
                <a:solidFill>
                  <a:schemeClr val="tx1"/>
                </a:solidFill>
              </a:rPr>
              <a:t>P → R → O</a:t>
            </a:r>
            <a:r>
              <a:rPr lang="ja-JP" altLang="pt-BR" sz="1400" dirty="0">
                <a:solidFill>
                  <a:schemeClr val="tx1"/>
                </a:solidFill>
              </a:rPr>
              <a:t>、</a:t>
            </a:r>
            <a:r>
              <a:rPr lang="pt-BR" altLang="ja-JP" sz="1400" dirty="0">
                <a:solidFill>
                  <a:schemeClr val="tx1"/>
                </a:solidFill>
              </a:rPr>
              <a:t>R → P → O</a:t>
            </a: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例えば、</a:t>
            </a:r>
            <a:r>
              <a:rPr lang="en-US" altLang="ja-JP" sz="1400" dirty="0">
                <a:solidFill>
                  <a:schemeClr val="tx1"/>
                </a:solidFill>
              </a:rPr>
              <a:t>P → R → O </a:t>
            </a:r>
            <a:r>
              <a:rPr lang="ja-JP" altLang="en-US" sz="1400" dirty="0">
                <a:solidFill>
                  <a:schemeClr val="tx1"/>
                </a:solidFill>
              </a:rPr>
              <a:t>の並びで予測値の変化を調べるためには、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sz="1400" dirty="0">
                <a:solidFill>
                  <a:schemeClr val="tx1"/>
                </a:solidFill>
              </a:rPr>
              <a:t>まず </a:t>
            </a:r>
            <a:r>
              <a:rPr lang="en-US" altLang="ja-JP" sz="1400" dirty="0">
                <a:solidFill>
                  <a:schemeClr val="tx1"/>
                </a:solidFill>
              </a:rPr>
              <a:t>P</a:t>
            </a:r>
            <a:r>
              <a:rPr lang="ja-JP" altLang="en-US" sz="1400" dirty="0">
                <a:solidFill>
                  <a:schemeClr val="tx1"/>
                </a:solidFill>
              </a:rPr>
              <a:t>と</a:t>
            </a:r>
            <a:r>
              <a:rPr lang="en-US" altLang="ja-JP" sz="1400" dirty="0">
                <a:solidFill>
                  <a:schemeClr val="tx1"/>
                </a:solidFill>
              </a:rPr>
              <a:t>R</a:t>
            </a:r>
            <a:r>
              <a:rPr lang="ja-JP" altLang="en-US" sz="1400" dirty="0">
                <a:solidFill>
                  <a:schemeClr val="tx1"/>
                </a:solidFill>
              </a:rPr>
              <a:t>だけ入れた状態で予測（</a:t>
            </a:r>
            <a:r>
              <a:rPr lang="en-US" altLang="ja-JP" sz="1400" dirty="0">
                <a:solidFill>
                  <a:schemeClr val="tx1"/>
                </a:solidFill>
              </a:rPr>
              <a:t>O</a:t>
            </a:r>
            <a:r>
              <a:rPr lang="ja-JP" altLang="en-US" sz="1400" dirty="0">
                <a:solidFill>
                  <a:schemeClr val="tx1"/>
                </a:solidFill>
              </a:rPr>
              <a:t>は平均を入れる）→ 予測①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sz="1400" dirty="0">
                <a:solidFill>
                  <a:schemeClr val="tx1"/>
                </a:solidFill>
              </a:rPr>
              <a:t>つぎに </a:t>
            </a:r>
            <a:r>
              <a:rPr lang="en-US" altLang="ja-JP" sz="1400" dirty="0">
                <a:solidFill>
                  <a:schemeClr val="tx1"/>
                </a:solidFill>
              </a:rPr>
              <a:t>O</a:t>
            </a:r>
            <a:r>
              <a:rPr lang="ja-JP" altLang="en-US" sz="1400" dirty="0">
                <a:solidFill>
                  <a:schemeClr val="tx1"/>
                </a:solidFill>
              </a:rPr>
              <a:t>を入れる場合で予測 → 予測②</a:t>
            </a:r>
            <a:endParaRPr lang="en-US" altLang="ja-JP" sz="1400" dirty="0">
              <a:solidFill>
                <a:schemeClr val="tx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ja-JP" altLang="en-US" sz="1400" dirty="0">
                <a:solidFill>
                  <a:schemeClr val="tx1"/>
                </a:solidFill>
              </a:rPr>
              <a:t>最後に</a:t>
            </a:r>
            <a:r>
              <a:rPr lang="ja-JP" altLang="en-US" sz="1400" dirty="0">
                <a:solidFill>
                  <a:schemeClr val="accent6"/>
                </a:solidFill>
              </a:rPr>
              <a:t>予測② − 予測①を計算 </a:t>
            </a:r>
            <a:r>
              <a:rPr lang="en-US" altLang="ja-JP" sz="1400" dirty="0">
                <a:solidFill>
                  <a:schemeClr val="accent6"/>
                </a:solidFill>
              </a:rPr>
              <a:t>= O</a:t>
            </a:r>
            <a:r>
              <a:rPr lang="ja-JP" altLang="en-US" sz="1400" dirty="0">
                <a:solidFill>
                  <a:schemeClr val="accent6"/>
                </a:solidFill>
              </a:rPr>
              <a:t>を入れた場合の予測値の変化</a:t>
            </a:r>
            <a:endParaRPr lang="en-US" altLang="ja-JP" sz="1400" dirty="0">
              <a:solidFill>
                <a:schemeClr val="accent6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同様に全パターンで計算する</a:t>
            </a:r>
            <a:endParaRPr lang="en-US" altLang="ja-JP" sz="1400" dirty="0">
              <a:solidFill>
                <a:schemeClr val="tx1"/>
              </a:solidFill>
            </a:endParaRPr>
          </a:p>
          <a:p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❷ </a:t>
            </a:r>
            <a:r>
              <a:rPr lang="ja-JP" altLang="en-US" sz="1400" b="1" dirty="0">
                <a:solidFill>
                  <a:schemeClr val="tx1"/>
                </a:solidFill>
              </a:rPr>
              <a:t>全パターンで予測値の変化を平均する</a:t>
            </a:r>
            <a:endParaRPr lang="en-US" altLang="ja-JP" sz="1400" b="1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各パターンの予測値の変化が以下だとすると、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・</a:t>
            </a:r>
            <a:r>
              <a:rPr lang="en-US" altLang="ja-JP" sz="1400" dirty="0">
                <a:solidFill>
                  <a:schemeClr val="tx1"/>
                </a:solidFill>
              </a:rPr>
              <a:t>P</a:t>
            </a:r>
            <a:r>
              <a:rPr lang="ja-JP" altLang="en-US" sz="1400" dirty="0">
                <a:solidFill>
                  <a:schemeClr val="tx1"/>
                </a:solidFill>
              </a:rPr>
              <a:t> → </a:t>
            </a:r>
            <a:r>
              <a:rPr lang="en-US" altLang="ja-JP" sz="1400" dirty="0">
                <a:solidFill>
                  <a:schemeClr val="tx1"/>
                </a:solidFill>
              </a:rPr>
              <a:t>R</a:t>
            </a:r>
            <a:r>
              <a:rPr lang="ja-JP" altLang="en-US" sz="1400" dirty="0">
                <a:solidFill>
                  <a:schemeClr val="tx1"/>
                </a:solidFill>
              </a:rPr>
              <a:t> → </a:t>
            </a:r>
            <a:r>
              <a:rPr lang="en-US" altLang="ja-JP" sz="1400" dirty="0">
                <a:solidFill>
                  <a:schemeClr val="tx1"/>
                </a:solidFill>
              </a:rPr>
              <a:t>O = +1</a:t>
            </a:r>
          </a:p>
          <a:p>
            <a:r>
              <a:rPr lang="ja-JP" altLang="en-US" sz="1400" dirty="0">
                <a:solidFill>
                  <a:schemeClr val="tx1"/>
                </a:solidFill>
              </a:rPr>
              <a:t>・</a:t>
            </a:r>
            <a:r>
              <a:rPr lang="en-US" altLang="ja-JP" sz="1400" dirty="0">
                <a:solidFill>
                  <a:schemeClr val="tx1"/>
                </a:solidFill>
              </a:rPr>
              <a:t>R</a:t>
            </a:r>
            <a:r>
              <a:rPr lang="ja-JP" altLang="en-US" sz="1400" dirty="0">
                <a:solidFill>
                  <a:schemeClr val="tx1"/>
                </a:solidFill>
              </a:rPr>
              <a:t> → </a:t>
            </a:r>
            <a:r>
              <a:rPr lang="en-US" altLang="ja-JP" sz="1400" dirty="0">
                <a:solidFill>
                  <a:schemeClr val="tx1"/>
                </a:solidFill>
              </a:rPr>
              <a:t>P </a:t>
            </a:r>
            <a:r>
              <a:rPr lang="ja-JP" altLang="en-US" sz="1400" dirty="0">
                <a:solidFill>
                  <a:schemeClr val="tx1"/>
                </a:solidFill>
              </a:rPr>
              <a:t>→ </a:t>
            </a:r>
            <a:r>
              <a:rPr lang="en-US" altLang="ja-JP" sz="1400" dirty="0">
                <a:solidFill>
                  <a:schemeClr val="tx1"/>
                </a:solidFill>
              </a:rPr>
              <a:t>O</a:t>
            </a:r>
            <a:r>
              <a:rPr lang="ja-JP" altLang="en-US" sz="1400" dirty="0">
                <a:solidFill>
                  <a:schemeClr val="tx1"/>
                </a:solidFill>
              </a:rPr>
              <a:t> </a:t>
            </a:r>
            <a:r>
              <a:rPr lang="en-US" altLang="ja-JP" sz="1400" dirty="0">
                <a:solidFill>
                  <a:schemeClr val="tx1"/>
                </a:solidFill>
              </a:rPr>
              <a:t>=</a:t>
            </a:r>
            <a:r>
              <a:rPr lang="ja-JP" altLang="en-US" sz="1400" dirty="0">
                <a:solidFill>
                  <a:schemeClr val="tx1"/>
                </a:solidFill>
              </a:rPr>
              <a:t> </a:t>
            </a:r>
            <a:r>
              <a:rPr lang="en-US" altLang="ja-JP" sz="1400" dirty="0">
                <a:solidFill>
                  <a:schemeClr val="tx1"/>
                </a:solidFill>
              </a:rPr>
              <a:t>+3</a:t>
            </a:r>
          </a:p>
          <a:p>
            <a:r>
              <a:rPr lang="ja-JP" altLang="en-US" sz="1400" dirty="0">
                <a:solidFill>
                  <a:schemeClr val="tx1"/>
                </a:solidFill>
              </a:rPr>
              <a:t>・・・</a:t>
            </a:r>
            <a:endParaRPr lang="en-US" altLang="ja-JP" sz="1400" dirty="0">
              <a:solidFill>
                <a:schemeClr val="tx1"/>
              </a:solidFill>
            </a:endParaRPr>
          </a:p>
          <a:p>
            <a:r>
              <a:rPr lang="ja-JP" altLang="en-US" sz="1400" dirty="0">
                <a:solidFill>
                  <a:schemeClr val="tx1"/>
                </a:solidFill>
              </a:rPr>
              <a:t>これが平均したものが</a:t>
            </a:r>
            <a:r>
              <a:rPr lang="en-US" altLang="ja-JP" sz="1400" dirty="0">
                <a:solidFill>
                  <a:schemeClr val="tx1"/>
                </a:solidFill>
              </a:rPr>
              <a:t>O</a:t>
            </a:r>
            <a:r>
              <a:rPr lang="ja-JP" altLang="en-US" sz="1400" dirty="0">
                <a:solidFill>
                  <a:schemeClr val="tx1"/>
                </a:solidFill>
              </a:rPr>
              <a:t>の</a:t>
            </a:r>
            <a:r>
              <a:rPr lang="en-US" altLang="ja-JP" sz="1400" dirty="0">
                <a:solidFill>
                  <a:schemeClr val="tx1"/>
                </a:solidFill>
              </a:rPr>
              <a:t>SHAP</a:t>
            </a:r>
            <a:r>
              <a:rPr lang="ja-JP" altLang="en-US" sz="1400" dirty="0">
                <a:solidFill>
                  <a:schemeClr val="tx1"/>
                </a:solidFill>
              </a:rPr>
              <a:t>値</a:t>
            </a:r>
            <a:endParaRPr lang="en-US" altLang="ja-JP" dirty="0">
              <a:solidFill>
                <a:schemeClr val="tx1"/>
              </a:solidFill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BFD3BEBA-769F-3434-FF64-94DEAC6BDF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800" r="33674"/>
          <a:stretch>
            <a:fillRect/>
          </a:stretch>
        </p:blipFill>
        <p:spPr>
          <a:xfrm>
            <a:off x="443077" y="5358003"/>
            <a:ext cx="3706774" cy="1102277"/>
          </a:xfrm>
          <a:prstGeom prst="rect">
            <a:avLst/>
          </a:prstGeom>
        </p:spPr>
      </p:pic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D082EB5-E946-A99B-EB52-2F466C6EAB13}"/>
              </a:ext>
            </a:extLst>
          </p:cNvPr>
          <p:cNvSpPr txBox="1"/>
          <p:nvPr/>
        </p:nvSpPr>
        <p:spPr>
          <a:xfrm>
            <a:off x="425222" y="1584541"/>
            <a:ext cx="50080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chemeClr val="bg1">
                    <a:lumMod val="50000"/>
                  </a:schemeClr>
                </a:solidFill>
              </a:rPr>
              <a:t>シャープレイ値とは、あるユーザーがある状況で参加した時に変化する値である「限界貢献度」を全ての状況において計算したもの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9C79ADA-265E-C7D7-68CA-F9F1E3B802FD}"/>
              </a:ext>
            </a:extLst>
          </p:cNvPr>
          <p:cNvSpPr txBox="1"/>
          <p:nvPr/>
        </p:nvSpPr>
        <p:spPr>
          <a:xfrm>
            <a:off x="436242" y="2498664"/>
            <a:ext cx="4880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b="1" dirty="0">
                <a:solidFill>
                  <a:schemeClr val="bg1">
                    <a:lumMod val="50000"/>
                  </a:schemeClr>
                </a:solidFill>
              </a:rPr>
              <a:t>簡単に言うと「ある説明変数が特定の値のとき、予測値が平均してどれだけ変わるか」を計算したもの</a:t>
            </a:r>
          </a:p>
        </p:txBody>
      </p:sp>
      <p:sp>
        <p:nvSpPr>
          <p:cNvPr id="20" name="吹き出し: 四角形 19">
            <a:extLst>
              <a:ext uri="{FF2B5EF4-FFF2-40B4-BE49-F238E27FC236}">
                <a16:creationId xmlns:a16="http://schemas.microsoft.com/office/drawing/2014/main" id="{D9A23482-D1EF-F055-A189-38BA7E1D869C}"/>
              </a:ext>
            </a:extLst>
          </p:cNvPr>
          <p:cNvSpPr/>
          <p:nvPr/>
        </p:nvSpPr>
        <p:spPr>
          <a:xfrm>
            <a:off x="9489990" y="4717133"/>
            <a:ext cx="2224216" cy="1579870"/>
          </a:xfrm>
          <a:prstGeom prst="wedgeRectCallout">
            <a:avLst>
              <a:gd name="adj1" fmla="val -36196"/>
              <a:gd name="adj2" fmla="val -60221"/>
            </a:avLst>
          </a:prstGeom>
          <a:solidFill>
            <a:schemeClr val="bg1"/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【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注意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】</a:t>
            </a:r>
          </a:p>
          <a:p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の入る位置によって差分の計算は変化</a:t>
            </a:r>
            <a:endParaRPr kumimoji="1" lang="en-US" altLang="ja-JP" sz="800" dirty="0">
              <a:solidFill>
                <a:schemeClr val="bg1">
                  <a:lumMod val="50000"/>
                </a:schemeClr>
              </a:solidFill>
            </a:endParaRPr>
          </a:p>
          <a:p>
            <a:endParaRPr kumimoji="1" lang="en-US" altLang="ja-JP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①先頭に</a:t>
            </a:r>
            <a:r>
              <a:rPr lang="en-US" altLang="ja-JP" sz="800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lang="ja-JP" altLang="en-US" sz="800" dirty="0">
                <a:solidFill>
                  <a:schemeClr val="bg1">
                    <a:lumMod val="50000"/>
                  </a:schemeClr>
                </a:solidFill>
              </a:rPr>
              <a:t>が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入る</a:t>
            </a:r>
            <a:endParaRPr kumimoji="1" lang="en-US" altLang="ja-JP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O → P → R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：増分 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= v({O}) − v(∅)</a:t>
            </a: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O → R → P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：増分 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= v({O}) − v(∅)</a:t>
            </a: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②中間に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が入る</a:t>
            </a:r>
            <a:endParaRPr kumimoji="1" lang="en-US" altLang="ja-JP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P → O → R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：増分 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= v({P,O}) − v({P})</a:t>
            </a: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R → O → P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：増分 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= v({R,O}) − v({R})</a:t>
            </a: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➂最後に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O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が入る</a:t>
            </a:r>
            <a:endParaRPr lang="en-US" altLang="ja-JP" sz="8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P → R → O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：増分 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= v({P,R,O}) − v({P,R})</a:t>
            </a:r>
          </a:p>
          <a:p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　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R → P → O</a:t>
            </a:r>
            <a:r>
              <a:rPr kumimoji="1" lang="ja-JP" altLang="en-US" sz="800" dirty="0">
                <a:solidFill>
                  <a:schemeClr val="bg1">
                    <a:lumMod val="50000"/>
                  </a:schemeClr>
                </a:solidFill>
              </a:rPr>
              <a:t>：増分 </a:t>
            </a:r>
            <a:r>
              <a:rPr kumimoji="1" lang="en-US" altLang="ja-JP" sz="800" dirty="0">
                <a:solidFill>
                  <a:schemeClr val="bg1">
                    <a:lumMod val="50000"/>
                  </a:schemeClr>
                </a:solidFill>
              </a:rPr>
              <a:t>= v({R,P,O}) − v({R,P})</a:t>
            </a:r>
            <a:endParaRPr kumimoji="1" lang="ja-JP" altLang="en-US" sz="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561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AD422FF-E2C5-7248-6F27-DB3CF8FEF56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ja-JP" altLang="en-US" b="0" dirty="0"/>
              <a:t>ライブラリあり</a:t>
            </a:r>
            <a:endParaRPr kumimoji="1" lang="en-US" altLang="ja-JP" b="0" dirty="0"/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kumimoji="1" lang="en-US" altLang="ja-JP" b="0" dirty="0"/>
              <a:t>import shap</a:t>
            </a:r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en-US" altLang="ja-JP" b="0" dirty="0"/>
              <a:t>2</a:t>
            </a:r>
            <a:r>
              <a:rPr lang="ja-JP" altLang="en-US" b="0" dirty="0"/>
              <a:t>行で書ける</a:t>
            </a:r>
            <a:endParaRPr lang="en-US" altLang="ja-JP" b="0" dirty="0"/>
          </a:p>
          <a:p>
            <a:pPr lvl="1"/>
            <a:endParaRPr kumimoji="1" lang="en-US" altLang="ja-JP" b="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ja-JP" altLang="en-US" b="0" dirty="0"/>
              <a:t>モデルの平均予測値ベースで解釈が難しい</a:t>
            </a:r>
            <a:endParaRPr kumimoji="1" lang="en-US" altLang="ja-JP" b="0" dirty="0"/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kumimoji="1" lang="en-US" altLang="ja-JP" b="0" dirty="0"/>
              <a:t>SHAP</a:t>
            </a:r>
            <a:r>
              <a:rPr kumimoji="1" lang="ja-JP" altLang="en-US" b="0" dirty="0"/>
              <a:t>値は、モデル平均値予測値から差分を説明するもの</a:t>
            </a:r>
            <a:endParaRPr kumimoji="1" lang="en-US" altLang="ja-JP" b="0" dirty="0"/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ja-JP" altLang="en-US" b="0" dirty="0"/>
              <a:t>平均値をとった理由は説明できない　</a:t>
            </a:r>
            <a:r>
              <a:rPr lang="en-US" altLang="ja-JP" b="0" dirty="0"/>
              <a:t>※</a:t>
            </a:r>
            <a:r>
              <a:rPr lang="ja-JP" altLang="en-US" b="0" dirty="0"/>
              <a:t>大域的な説明（特徴量重要度、グローバル</a:t>
            </a:r>
            <a:r>
              <a:rPr lang="en-US" altLang="ja-JP" b="0" dirty="0"/>
              <a:t>SHAP</a:t>
            </a:r>
            <a:r>
              <a:rPr lang="ja-JP" altLang="en-US" b="0" dirty="0"/>
              <a:t>など）で解釈する</a:t>
            </a:r>
            <a:endParaRPr lang="en-US" altLang="ja-JP" b="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kumimoji="1" lang="en-US" altLang="ja-JP" b="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kumimoji="1" lang="ja-JP" altLang="en-US" b="0" dirty="0"/>
              <a:t>ドメイン知識と一致しない結果を示す</a:t>
            </a:r>
            <a:endParaRPr kumimoji="1" lang="en-US" altLang="ja-JP" b="0" dirty="0"/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lang="ja-JP" altLang="en-US" b="0" dirty="0"/>
              <a:t>問題</a:t>
            </a:r>
            <a:endParaRPr lang="en-US" altLang="ja-JP" b="0" dirty="0"/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lang="ja-JP" altLang="en-US" b="0" dirty="0"/>
              <a:t>例えば、発注スコアが高い値を示すのに、</a:t>
            </a:r>
            <a:r>
              <a:rPr lang="en-US" altLang="ja-JP" b="0" dirty="0"/>
              <a:t>SHAP</a:t>
            </a:r>
            <a:r>
              <a:rPr lang="ja-JP" altLang="en-US" b="0" dirty="0"/>
              <a:t>値が負（在庫数を押し下げる）</a:t>
            </a:r>
            <a:endParaRPr lang="en-US" altLang="ja-JP" b="0" dirty="0"/>
          </a:p>
          <a:p>
            <a:pPr marL="1257300" lvl="2" indent="-342900">
              <a:buFont typeface="Wingdings" panose="05000000000000000000" pitchFamily="2" charset="2"/>
              <a:buChar char="l"/>
            </a:pPr>
            <a:r>
              <a:rPr kumimoji="1" lang="ja-JP" altLang="en-US" b="0" dirty="0"/>
              <a:t>実際の現場の流れを考えると、発注数が大きいほど、在庫数は大きくなるはず</a:t>
            </a:r>
            <a:endParaRPr kumimoji="1" lang="en-US" altLang="ja-JP" b="0" dirty="0"/>
          </a:p>
          <a:p>
            <a:pPr marL="800100" lvl="1" indent="-342900">
              <a:buFont typeface="Wingdings" panose="05000000000000000000" pitchFamily="2" charset="2"/>
              <a:buChar char="l"/>
            </a:pPr>
            <a:r>
              <a:rPr kumimoji="1" lang="ja-JP" altLang="en-US" b="0" dirty="0"/>
              <a:t>解決策</a:t>
            </a:r>
            <a:endParaRPr kumimoji="1" lang="en-US" altLang="ja-JP" b="0" dirty="0"/>
          </a:p>
          <a:p>
            <a:pPr marL="1143000" lvl="2" indent="-228600">
              <a:buFont typeface="+mj-lt"/>
              <a:buAutoNum type="alphaUcParenR"/>
            </a:pPr>
            <a:r>
              <a:rPr lang="ja-JP" altLang="en-US" b="0" dirty="0"/>
              <a:t>特徴量の見直し、時間遅れなど正しいか？</a:t>
            </a:r>
            <a:endParaRPr lang="en-US" altLang="ja-JP" b="0" dirty="0"/>
          </a:p>
          <a:p>
            <a:pPr marL="1143000" lvl="2" indent="-228600">
              <a:buFont typeface="+mj-lt"/>
              <a:buAutoNum type="alphaUcParenR"/>
            </a:pPr>
            <a:r>
              <a:rPr lang="ja-JP" altLang="en-US" b="0" dirty="0"/>
              <a:t>単調性性制約付きモデルに変更</a:t>
            </a:r>
            <a:endParaRPr lang="en-US" altLang="ja-JP" b="0" dirty="0"/>
          </a:p>
          <a:p>
            <a:pPr marL="1257300" lvl="2" indent="-342900">
              <a:buFont typeface="Wingdings" panose="05000000000000000000" pitchFamily="2" charset="2"/>
              <a:buChar char="l"/>
            </a:pPr>
            <a:endParaRPr kumimoji="1" lang="en-US" altLang="ja-JP" b="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kumimoji="1" lang="en-US" altLang="ja-JP" b="0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4D8878-270E-32CB-A831-118E7268C5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dirty="0"/>
              <a:t>SHAP</a:t>
            </a:r>
            <a:r>
              <a:rPr kumimoji="1" lang="ja-JP" altLang="en-US" dirty="0"/>
              <a:t>値の活用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F346D63-EF3F-4255-BC40-AF2ACFE9AD1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404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58F25F6-D629-C8EB-BFF0-D982593D45D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ja-JP" altLang="en-US" dirty="0">
                <a:hlinkClick r:id="rId2"/>
              </a:rPr>
              <a:t>機械学習モデルの予測値を解釈する「</a:t>
            </a:r>
            <a:r>
              <a:rPr lang="en-US" altLang="ja-JP" dirty="0">
                <a:hlinkClick r:id="rId2"/>
              </a:rPr>
              <a:t>SHAP</a:t>
            </a:r>
            <a:r>
              <a:rPr lang="ja-JP" altLang="en-US" dirty="0">
                <a:hlinkClick r:id="rId2"/>
              </a:rPr>
              <a:t>」と協力ゲーム理論の考え方 </a:t>
            </a:r>
            <a:r>
              <a:rPr lang="en-US" altLang="ja-JP" dirty="0">
                <a:hlinkClick r:id="rId2"/>
              </a:rPr>
              <a:t>| </a:t>
            </a:r>
            <a:r>
              <a:rPr lang="ja-JP" altLang="en-US" dirty="0">
                <a:hlinkClick r:id="rId2"/>
              </a:rPr>
              <a:t>ログミー</a:t>
            </a:r>
            <a:r>
              <a:rPr lang="en-US" altLang="ja-JP" dirty="0">
                <a:hlinkClick r:id="rId2"/>
              </a:rPr>
              <a:t>Business</a:t>
            </a:r>
            <a:endParaRPr kumimoji="1" lang="ja-JP" altLang="en-US" dirty="0"/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CD7D18-8F52-7363-5A4C-D6C8D371DA9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8F5E67-6DFA-D40C-74A0-0444BDED734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FCAFAC13-DB77-42F2-BE26-45BA5532FD50}" type="datetime4">
              <a:rPr lang="en-US" altLang="ja-JP" smtClean="0"/>
              <a:pPr/>
              <a:t>November 17, 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3147742"/>
      </p:ext>
    </p:extLst>
  </p:cSld>
  <p:clrMapOvr>
    <a:masterClrMapping/>
  </p:clrMapOvr>
</p:sld>
</file>

<file path=ppt/theme/theme1.xml><?xml version="1.0" encoding="utf-8"?>
<a:theme xmlns:a="http://schemas.openxmlformats.org/drawingml/2006/main" name="アイシンwide">
  <a:themeElements>
    <a:clrScheme name="AISIN_210408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008CD2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アイシンwide" id="{9719132A-AE96-4650-9969-4ACCCCDBC9C1}" vid="{AC6CE65C-E27A-4279-9449-0AF11FFDAE82}"/>
    </a:ext>
  </a:extLst>
</a:theme>
</file>

<file path=ppt/theme/theme2.xml><?xml version="1.0" encoding="utf-8"?>
<a:theme xmlns:a="http://schemas.openxmlformats.org/drawingml/2006/main" name="最終頁">
  <a:themeElements>
    <a:clrScheme name="AISIN_210408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008CD2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SINフォーマット_wide.potx" id="{E6ED6B68-B8AB-4240-B5BF-953200F140CE}" vid="{8E07004A-0D74-49DA-BAAA-7DE141297473}"/>
    </a:ext>
  </a:extLst>
</a:theme>
</file>

<file path=ppt/theme/theme3.xml><?xml version="1.0" encoding="utf-8"?>
<a:theme xmlns:a="http://schemas.openxmlformats.org/drawingml/2006/main" name="内容">
  <a:themeElements>
    <a:clrScheme name="AISIN_210408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008CD2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SINフォーマット_wide.potx" id="{E6ED6B68-B8AB-4240-B5BF-953200F140CE}" vid="{4B783BF8-DEA1-4518-93B8-7E4A5AC19B3A}"/>
    </a:ext>
  </a:extLst>
</a:theme>
</file>

<file path=ppt/theme/theme4.xml><?xml version="1.0" encoding="utf-8"?>
<a:theme xmlns:a="http://schemas.openxmlformats.org/drawingml/2006/main" name="内容［関係社外秘］">
  <a:themeElements>
    <a:clrScheme name="AISIN">
      <a:dk1>
        <a:srgbClr val="333333"/>
      </a:dk1>
      <a:lt1>
        <a:sysClr val="window" lastClr="FFFFFF"/>
      </a:lt1>
      <a:dk2>
        <a:srgbClr val="000000"/>
      </a:dk2>
      <a:lt2>
        <a:srgbClr val="F2F2F2"/>
      </a:lt2>
      <a:accent1>
        <a:srgbClr val="001A72"/>
      </a:accent1>
      <a:accent2>
        <a:srgbClr val="405395"/>
      </a:accent2>
      <a:accent3>
        <a:srgbClr val="808CB8"/>
      </a:accent3>
      <a:accent4>
        <a:srgbClr val="BFC6DC"/>
      </a:accent4>
      <a:accent5>
        <a:srgbClr val="4BBCFF"/>
      </a:accent5>
      <a:accent6>
        <a:srgbClr val="FA0A3C"/>
      </a:accent6>
      <a:hlink>
        <a:srgbClr val="00376B"/>
      </a:hlink>
      <a:folHlink>
        <a:srgbClr val="6E1E64"/>
      </a:folHlink>
    </a:clrScheme>
    <a:fontScheme name="AISIN_ｖ01">
      <a:majorFont>
        <a:latin typeface="Segoe UI"/>
        <a:ea typeface="メイリオ"/>
        <a:cs typeface=""/>
      </a:majorFont>
      <a:minorFont>
        <a:latin typeface="Segoe UI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(AISIN)_関係社外秘.pptx" id="{0E61A696-DCC7-41FA-B91C-DE2E6FD3D105}" vid="{88604F16-AB26-4E05-98EE-030EE2A46DF3}"/>
    </a:ext>
  </a:extLst>
</a:theme>
</file>

<file path=ppt/theme/theme5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234533</TotalTime>
  <Words>874</Words>
  <Application>Microsoft Office PowerPoint</Application>
  <PresentationFormat>ワイド画面</PresentationFormat>
  <Paragraphs>99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4</vt:i4>
      </vt:variant>
      <vt:variant>
        <vt:lpstr>スライド タイトル</vt:lpstr>
      </vt:variant>
      <vt:variant>
        <vt:i4>4</vt:i4>
      </vt:variant>
    </vt:vector>
  </HeadingPairs>
  <TitlesOfParts>
    <vt:vector size="13" baseType="lpstr">
      <vt:lpstr>メイリオ</vt:lpstr>
      <vt:lpstr>游ゴシック</vt:lpstr>
      <vt:lpstr>Arial</vt:lpstr>
      <vt:lpstr>Segoe UI</vt:lpstr>
      <vt:lpstr>Wingdings</vt:lpstr>
      <vt:lpstr>アイシンwide</vt:lpstr>
      <vt:lpstr>最終頁</vt:lpstr>
      <vt:lpstr>内容</vt:lpstr>
      <vt:lpstr>内容［関係社外秘］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アイシン精機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Toyomaru Koji／豊丸　弘爾／AI</dc:creator>
  <cp:lastModifiedBy>優樹 笹岡</cp:lastModifiedBy>
  <cp:revision>243</cp:revision>
  <dcterms:created xsi:type="dcterms:W3CDTF">2022-01-19T01:36:44Z</dcterms:created>
  <dcterms:modified xsi:type="dcterms:W3CDTF">2025-11-17T15:03:20Z</dcterms:modified>
</cp:coreProperties>
</file>